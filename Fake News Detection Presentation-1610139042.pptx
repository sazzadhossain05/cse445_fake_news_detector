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1324056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30397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405495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77D2279-44F5-494E-8E3E-4CB0244BCF09}"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344915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77D2279-44F5-494E-8E3E-4CB0244BCF09}" type="datetimeFigureOut">
              <a:rPr lang="en-US" smtClean="0"/>
              <a:t>9/21/2020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656617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2245593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731009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4080363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7D2279-44F5-494E-8E3E-4CB0244BCF09}"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493248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7D2279-44F5-494E-8E3E-4CB0244BCF09}"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475860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2373093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49897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2654791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1398193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404007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228118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7D2279-44F5-494E-8E3E-4CB0244BCF0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10D03E-0DA9-4176-8EBC-58AD9239C0EF}" type="slidenum">
              <a:rPr lang="en-US" smtClean="0"/>
              <a:t>‹#›</a:t>
            </a:fld>
            <a:endParaRPr lang="en-US"/>
          </a:p>
        </p:txBody>
      </p:sp>
    </p:spTree>
    <p:extLst>
      <p:ext uri="{BB962C8B-B14F-4D97-AF65-F5344CB8AC3E}">
        <p14:creationId xmlns:p14="http://schemas.microsoft.com/office/powerpoint/2010/main" val="3639489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77D2279-44F5-494E-8E3E-4CB0244BCF09}" type="datetimeFigureOut">
              <a:rPr lang="en-US" smtClean="0"/>
              <a:t>9/21/2020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C10D03E-0DA9-4176-8EBC-58AD9239C0EF}" type="slidenum">
              <a:rPr lang="en-US" smtClean="0"/>
              <a:t>‹#›</a:t>
            </a:fld>
            <a:endParaRPr lang="en-US"/>
          </a:p>
        </p:txBody>
      </p:sp>
    </p:spTree>
    <p:extLst>
      <p:ext uri="{BB962C8B-B14F-4D97-AF65-F5344CB8AC3E}">
        <p14:creationId xmlns:p14="http://schemas.microsoft.com/office/powerpoint/2010/main" val="1495263913"/>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scikit-learn.org/stable/modules/generated/sklearn.metrics.confusion_matrix.html" TargetMode="External"/><Relationship Id="rId3" Type="http://schemas.openxmlformats.org/officeDocument/2006/relationships/hyperlink" Target="https://scikit-learn.org/stable/modules/generated/sklearn.model_selection.train_test_split.html" TargetMode="External"/><Relationship Id="rId7" Type="http://schemas.openxmlformats.org/officeDocument/2006/relationships/hyperlink" Target="https://scikit-learn.org/stable/modules/generated/sklearn.metrics.accuracy_score.html" TargetMode="External"/><Relationship Id="rId2" Type="http://schemas.openxmlformats.org/officeDocument/2006/relationships/hyperlink" Target="https://www.educative.io/edpresso/what-is-pandas-in-python" TargetMode="External"/><Relationship Id="rId1" Type="http://schemas.openxmlformats.org/officeDocument/2006/relationships/slideLayout" Target="../slideLayouts/slideLayout2.xml"/><Relationship Id="rId6" Type="http://schemas.openxmlformats.org/officeDocument/2006/relationships/hyperlink" Target="https://scikit-learn.org/stable/modules/generated/sklearn.feature_extraction.text.TfidfTransformer.html" TargetMode="External"/><Relationship Id="rId5" Type="http://schemas.openxmlformats.org/officeDocument/2006/relationships/hyperlink" Target="https://scikit-learn.org/stable/modules/generated/sklearn.feature_extraction.text.CountVectorizer.html" TargetMode="External"/><Relationship Id="rId10" Type="http://schemas.openxmlformats.org/officeDocument/2006/relationships/hyperlink" Target="https://machinelearningmastery.com/a-gentle-introduction-to-model-selection-for-machine-learning/" TargetMode="External"/><Relationship Id="rId4" Type="http://schemas.openxmlformats.org/officeDocument/2006/relationships/hyperlink" Target="https://scikit-learn.org/stable/modules/generated/sklearn.pipeline.Pipeline.html" TargetMode="External"/><Relationship Id="rId9" Type="http://schemas.openxmlformats.org/officeDocument/2006/relationships/hyperlink" Target="https://www.kaggle.com/clmentbisaillon/fake-and-real-news-datase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20185" y="139344"/>
            <a:ext cx="7130970" cy="2429257"/>
          </a:xfrm>
        </p:spPr>
        <p:txBody>
          <a:bodyPr/>
          <a:lstStyle/>
          <a:p>
            <a:r>
              <a:rPr lang="en-US" sz="2800" dirty="0" smtClean="0">
                <a:solidFill>
                  <a:schemeClr val="tx1"/>
                </a:solidFill>
                <a:latin typeface="Arial" panose="020B0604020202020204" pitchFamily="34" charset="0"/>
                <a:cs typeface="Arial" panose="020B0604020202020204" pitchFamily="34" charset="0"/>
              </a:rPr>
              <a:t>                     </a:t>
            </a:r>
            <a:r>
              <a:rPr lang="en-US" sz="2400" dirty="0" smtClean="0">
                <a:solidFill>
                  <a:schemeClr val="tx1"/>
                </a:solidFill>
                <a:latin typeface="Arial" panose="020B0604020202020204" pitchFamily="34" charset="0"/>
                <a:cs typeface="Arial" panose="020B0604020202020204" pitchFamily="34" charset="0"/>
              </a:rPr>
              <a:t>North </a:t>
            </a:r>
            <a:r>
              <a:rPr lang="en-US" sz="2400" dirty="0">
                <a:solidFill>
                  <a:schemeClr val="tx1"/>
                </a:solidFill>
                <a:latin typeface="Arial" panose="020B0604020202020204" pitchFamily="34" charset="0"/>
                <a:cs typeface="Arial" panose="020B0604020202020204" pitchFamily="34" charset="0"/>
              </a:rPr>
              <a:t>South University</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Department of Electrical &amp; Computer Engineering</a:t>
            </a:r>
            <a:br>
              <a:rPr lang="en-US" sz="2400" dirty="0">
                <a:solidFill>
                  <a:schemeClr val="tx1"/>
                </a:solidFill>
                <a:latin typeface="Arial" panose="020B0604020202020204" pitchFamily="34" charset="0"/>
                <a:cs typeface="Arial" panose="020B0604020202020204" pitchFamily="34" charset="0"/>
              </a:rPr>
            </a:br>
            <a:r>
              <a:rPr lang="en-US" sz="2400" dirty="0" smtClean="0">
                <a:solidFill>
                  <a:schemeClr val="tx1"/>
                </a:solidFill>
                <a:latin typeface="Arial" panose="020B0604020202020204" pitchFamily="34" charset="0"/>
                <a:cs typeface="Arial" panose="020B0604020202020204" pitchFamily="34" charset="0"/>
              </a:rPr>
              <a:t>                       Project </a:t>
            </a:r>
            <a:r>
              <a:rPr lang="en-US" sz="2400" dirty="0">
                <a:solidFill>
                  <a:schemeClr val="tx1"/>
                </a:solidFill>
                <a:latin typeface="Arial" panose="020B0604020202020204" pitchFamily="34" charset="0"/>
                <a:cs typeface="Arial" panose="020B0604020202020204" pitchFamily="34" charset="0"/>
              </a:rPr>
              <a:t>Presentation</a:t>
            </a:r>
            <a:br>
              <a:rPr lang="en-US" sz="2400" dirty="0">
                <a:solidFill>
                  <a:schemeClr val="tx1"/>
                </a:solidFill>
                <a:latin typeface="Arial" panose="020B0604020202020204" pitchFamily="34" charset="0"/>
                <a:cs typeface="Arial" panose="020B0604020202020204" pitchFamily="34" charset="0"/>
              </a:rPr>
            </a:br>
            <a:r>
              <a:rPr lang="en-US" sz="2400" dirty="0" smtClean="0">
                <a:solidFill>
                  <a:schemeClr val="tx1"/>
                </a:solidFill>
                <a:latin typeface="Arial" panose="020B0604020202020204" pitchFamily="34" charset="0"/>
                <a:cs typeface="Arial" panose="020B0604020202020204" pitchFamily="34" charset="0"/>
              </a:rPr>
              <a:t>                            Summer </a:t>
            </a:r>
            <a:r>
              <a:rPr lang="en-US" sz="2400" dirty="0">
                <a:solidFill>
                  <a:schemeClr val="tx1"/>
                </a:solidFill>
                <a:latin typeface="Arial" panose="020B0604020202020204" pitchFamily="34" charset="0"/>
                <a:cs typeface="Arial" panose="020B0604020202020204" pitchFamily="34" charset="0"/>
              </a:rPr>
              <a:t>2020</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5" name="TextBox 4"/>
          <p:cNvSpPr txBox="1"/>
          <p:nvPr/>
        </p:nvSpPr>
        <p:spPr>
          <a:xfrm>
            <a:off x="6463066" y="4177614"/>
            <a:ext cx="5302734" cy="1200329"/>
          </a:xfrm>
          <a:prstGeom prst="rect">
            <a:avLst/>
          </a:prstGeom>
          <a:noFill/>
        </p:spPr>
        <p:txBody>
          <a:bodyPr wrap="none" rtlCol="0">
            <a:spAutoFit/>
          </a:bodyPr>
          <a:lstStyle/>
          <a:p>
            <a:r>
              <a:rPr lang="en-US" sz="2400" u="sng" dirty="0" smtClean="0">
                <a:latin typeface="Arial" panose="020B0604020202020204" pitchFamily="34" charset="0"/>
                <a:cs typeface="Arial" panose="020B0604020202020204" pitchFamily="34" charset="0"/>
              </a:rPr>
              <a:t>Course Instructor : </a:t>
            </a:r>
          </a:p>
          <a:p>
            <a:endParaRPr lang="en-US" sz="2400" u="sng" dirty="0" smtClean="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Dr. Mohammad Ashrafuzzaman Khan</a:t>
            </a:r>
            <a:endParaRPr lang="en-US" sz="2400" u="sng" dirty="0" smtClean="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118872" y="139344"/>
            <a:ext cx="1674972" cy="1899857"/>
          </a:xfrm>
          <a:prstGeom prst="rect">
            <a:avLst/>
          </a:prstGeom>
        </p:spPr>
      </p:pic>
      <p:sp>
        <p:nvSpPr>
          <p:cNvPr id="8" name="TextBox 7"/>
          <p:cNvSpPr txBox="1"/>
          <p:nvPr/>
        </p:nvSpPr>
        <p:spPr>
          <a:xfrm>
            <a:off x="2670048" y="2532760"/>
            <a:ext cx="7082965" cy="584775"/>
          </a:xfrm>
          <a:prstGeom prst="rect">
            <a:avLst/>
          </a:prstGeom>
          <a:noFill/>
        </p:spPr>
        <p:txBody>
          <a:bodyPr wrap="none" rtlCol="0">
            <a:spAutoFit/>
          </a:bodyPr>
          <a:lstStyle/>
          <a:p>
            <a:r>
              <a:rPr lang="en-US" sz="2800" dirty="0" smtClean="0"/>
              <a:t> </a:t>
            </a:r>
            <a:r>
              <a:rPr lang="en-US" sz="3200" b="1" dirty="0" smtClean="0">
                <a:latin typeface="Arial" panose="020B0604020202020204" pitchFamily="34" charset="0"/>
                <a:cs typeface="Arial" panose="020B0604020202020204" pitchFamily="34" charset="0"/>
              </a:rPr>
              <a:t>Project Title : </a:t>
            </a:r>
            <a:r>
              <a:rPr lang="en-US" sz="3200" b="1" dirty="0">
                <a:latin typeface="Arial" panose="020B0604020202020204" pitchFamily="34" charset="0"/>
                <a:cs typeface="Arial" panose="020B0604020202020204" pitchFamily="34" charset="0"/>
              </a:rPr>
              <a:t>Fake News </a:t>
            </a:r>
            <a:r>
              <a:rPr lang="en-US" sz="3200" b="1" dirty="0" smtClean="0">
                <a:latin typeface="Arial" panose="020B0604020202020204" pitchFamily="34" charset="0"/>
                <a:cs typeface="Arial" panose="020B0604020202020204" pitchFamily="34" charset="0"/>
              </a:rPr>
              <a:t>Detection</a:t>
            </a:r>
            <a:endParaRPr lang="en-US" sz="3200" b="1" dirty="0">
              <a:latin typeface="Arial" panose="020B0604020202020204" pitchFamily="34" charset="0"/>
              <a:cs typeface="Arial" panose="020B0604020202020204" pitchFamily="34" charset="0"/>
            </a:endParaRPr>
          </a:p>
        </p:txBody>
      </p:sp>
      <p:sp>
        <p:nvSpPr>
          <p:cNvPr id="4" name="TextBox 3"/>
          <p:cNvSpPr txBox="1"/>
          <p:nvPr/>
        </p:nvSpPr>
        <p:spPr>
          <a:xfrm>
            <a:off x="585216" y="3837980"/>
            <a:ext cx="3456432" cy="2308324"/>
          </a:xfrm>
          <a:prstGeom prst="rect">
            <a:avLst/>
          </a:prstGeom>
          <a:noFill/>
        </p:spPr>
        <p:txBody>
          <a:bodyPr wrap="square" rtlCol="0">
            <a:spAutoFit/>
          </a:bodyPr>
          <a:lstStyle/>
          <a:p>
            <a:r>
              <a:rPr lang="en-US" u="sng" dirty="0">
                <a:latin typeface="Arial" panose="020B0604020202020204" pitchFamily="34" charset="0"/>
                <a:cs typeface="Arial" panose="020B0604020202020204" pitchFamily="34" charset="0"/>
              </a:rPr>
              <a:t>Submitted By</a:t>
            </a:r>
            <a:r>
              <a:rPr lang="en-US" u="sng" dirty="0" smtClean="0">
                <a:latin typeface="Arial" panose="020B0604020202020204" pitchFamily="34" charset="0"/>
                <a:cs typeface="Arial" panose="020B0604020202020204" pitchFamily="34" charset="0"/>
              </a:rPr>
              <a:t>:</a:t>
            </a:r>
          </a:p>
          <a:p>
            <a:endParaRPr lang="en-US" u="sng" dirty="0">
              <a:latin typeface="Arial" panose="020B0604020202020204" pitchFamily="34" charset="0"/>
              <a:cs typeface="Arial" panose="020B0604020202020204" pitchFamily="34" charset="0"/>
            </a:endParaRPr>
          </a:p>
          <a:p>
            <a:pPr algn="just">
              <a:lnSpc>
                <a:spcPct val="150000"/>
              </a:lnSpc>
            </a:pPr>
            <a:r>
              <a:rPr lang="en-US" dirty="0" smtClean="0">
                <a:latin typeface="Arial" panose="020B0604020202020204" pitchFamily="34" charset="0"/>
                <a:cs typeface="Arial" panose="020B0604020202020204" pitchFamily="34" charset="0"/>
              </a:rPr>
              <a:t>Name      :  </a:t>
            </a:r>
            <a:r>
              <a:rPr lang="en-US" dirty="0">
                <a:latin typeface="Arial" panose="020B0604020202020204" pitchFamily="34" charset="0"/>
                <a:cs typeface="Arial" panose="020B0604020202020204" pitchFamily="34" charset="0"/>
              </a:rPr>
              <a:t>Sazzad Hossain</a:t>
            </a:r>
          </a:p>
          <a:p>
            <a:pPr algn="just">
              <a:lnSpc>
                <a:spcPct val="150000"/>
              </a:lnSpc>
            </a:pPr>
            <a:r>
              <a:rPr lang="en-US" dirty="0" smtClean="0">
                <a:latin typeface="Arial" panose="020B0604020202020204" pitchFamily="34" charset="0"/>
                <a:cs typeface="Arial" panose="020B0604020202020204" pitchFamily="34" charset="0"/>
              </a:rPr>
              <a:t>ID            :  </a:t>
            </a:r>
            <a:r>
              <a:rPr lang="en-US" dirty="0">
                <a:latin typeface="Arial" panose="020B0604020202020204" pitchFamily="34" charset="0"/>
                <a:cs typeface="Arial" panose="020B0604020202020204" pitchFamily="34" charset="0"/>
              </a:rPr>
              <a:t>1610139042</a:t>
            </a:r>
          </a:p>
          <a:p>
            <a:pPr algn="just">
              <a:lnSpc>
                <a:spcPct val="150000"/>
              </a:lnSpc>
            </a:pPr>
            <a:r>
              <a:rPr lang="en-US" dirty="0" smtClean="0">
                <a:latin typeface="Arial" panose="020B0604020202020204" pitchFamily="34" charset="0"/>
                <a:cs typeface="Arial" panose="020B0604020202020204" pitchFamily="34" charset="0"/>
              </a:rPr>
              <a:t>Course    :   CSE445</a:t>
            </a:r>
          </a:p>
          <a:p>
            <a:pPr algn="just">
              <a:lnSpc>
                <a:spcPct val="150000"/>
              </a:lnSpc>
            </a:pPr>
            <a:r>
              <a:rPr lang="en-US" dirty="0" smtClean="0">
                <a:latin typeface="Arial" panose="020B0604020202020204" pitchFamily="34" charset="0"/>
                <a:cs typeface="Arial" panose="020B0604020202020204" pitchFamily="34" charset="0"/>
              </a:rPr>
              <a:t>Section    :   01</a:t>
            </a:r>
            <a:endParaRPr lang="en-US" dirty="0">
              <a:latin typeface="Arial" panose="020B0604020202020204" pitchFamily="34" charset="0"/>
              <a:cs typeface="Arial" panose="020B0604020202020204" pitchFamily="34" charset="0"/>
            </a:endParaRPr>
          </a:p>
        </p:txBody>
      </p:sp>
      <p:sp>
        <p:nvSpPr>
          <p:cNvPr id="3" name="Rectangle 2"/>
          <p:cNvSpPr/>
          <p:nvPr/>
        </p:nvSpPr>
        <p:spPr>
          <a:xfrm>
            <a:off x="5212188" y="3117535"/>
            <a:ext cx="6296917" cy="400110"/>
          </a:xfrm>
          <a:prstGeom prst="rect">
            <a:avLst/>
          </a:prstGeom>
        </p:spPr>
        <p:txBody>
          <a:bodyPr wrap="none">
            <a:spAutoFit/>
          </a:bodyPr>
          <a:lstStyle/>
          <a:p>
            <a:r>
              <a:rPr lang="en-US" sz="2000" b="1" dirty="0">
                <a:latin typeface="Arial" panose="020B0604020202020204" pitchFamily="34" charset="0"/>
                <a:cs typeface="Arial" panose="020B0604020202020204" pitchFamily="34" charset="0"/>
              </a:rPr>
              <a:t>Using Logistic Regression, SVM and Naive Bayes </a:t>
            </a:r>
          </a:p>
        </p:txBody>
      </p:sp>
    </p:spTree>
    <p:extLst>
      <p:ext uri="{BB962C8B-B14F-4D97-AF65-F5344CB8AC3E}">
        <p14:creationId xmlns:p14="http://schemas.microsoft.com/office/powerpoint/2010/main" val="29516312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6626"/>
            <a:ext cx="8073988" cy="897111"/>
          </a:xfrm>
        </p:spPr>
        <p:txBody>
          <a:bodyPr/>
          <a:lstStyle/>
          <a:p>
            <a:r>
              <a:rPr lang="en-US" dirty="0" smtClean="0">
                <a:ln w="0"/>
                <a:solidFill>
                  <a:schemeClr val="accent1"/>
                </a:solidFill>
                <a:effectLst>
                  <a:outerShdw blurRad="38100" dist="25400" dir="5400000" algn="ctr" rotWithShape="0">
                    <a:srgbClr val="6E747A">
                      <a:alpha val="43000"/>
                    </a:srgbClr>
                  </a:outerShdw>
                </a:effectLst>
              </a:rPr>
              <a:t>      </a:t>
            </a:r>
            <a:r>
              <a:rPr lang="en-US"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Problem Statement </a:t>
            </a: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51700" y="984887"/>
            <a:ext cx="8726838" cy="1253216"/>
          </a:xfrm>
        </p:spPr>
        <p:txBody>
          <a:bodyPr>
            <a:normAutofit/>
          </a:bodyPr>
          <a:lstStyle/>
          <a:p>
            <a:pPr algn="just">
              <a:lnSpc>
                <a:spcPct val="150000"/>
              </a:lnSpc>
              <a:buFont typeface="Wingdings" panose="05000000000000000000" pitchFamily="2" charset="2"/>
              <a:buChar char="q"/>
            </a:pPr>
            <a:endParaRPr lang="en-US" dirty="0" smtClean="0">
              <a:latin typeface="Arial" panose="020B0604020202020204" pitchFamily="34" charset="0"/>
              <a:cs typeface="Arial" panose="020B0604020202020204" pitchFamily="34" charset="0"/>
            </a:endParaRPr>
          </a:p>
          <a:p>
            <a:pPr algn="just">
              <a:lnSpc>
                <a:spcPct val="150000"/>
              </a:lnSpc>
              <a:buClr>
                <a:srgbClr val="33CC33"/>
              </a:buClr>
              <a:buFont typeface="Wingdings" panose="05000000000000000000" pitchFamily="2" charset="2"/>
              <a:buChar char="q"/>
            </a:pPr>
            <a:r>
              <a:rPr lang="en-US" dirty="0" smtClean="0">
                <a:latin typeface="Arial" panose="020B0604020202020204" pitchFamily="34" charset="0"/>
                <a:cs typeface="Arial" panose="020B0604020202020204" pitchFamily="34" charset="0"/>
              </a:rPr>
              <a:t>The problem is identify Fake </a:t>
            </a:r>
            <a:r>
              <a:rPr lang="en-US" dirty="0">
                <a:latin typeface="Arial" panose="020B0604020202020204" pitchFamily="34" charset="0"/>
                <a:cs typeface="Arial" panose="020B0604020202020204" pitchFamily="34" charset="0"/>
              </a:rPr>
              <a:t>news from Real </a:t>
            </a:r>
            <a:r>
              <a:rPr lang="en-US" dirty="0" smtClean="0">
                <a:latin typeface="Arial" panose="020B0604020202020204" pitchFamily="34" charset="0"/>
                <a:cs typeface="Arial" panose="020B0604020202020204" pitchFamily="34" charset="0"/>
              </a:rPr>
              <a:t>news.</a:t>
            </a:r>
          </a:p>
          <a:p>
            <a:pPr lvl="0"/>
            <a:endParaRPr lang="en-US" sz="22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9065624" y="2124891"/>
            <a:ext cx="3038184" cy="2548657"/>
          </a:xfrm>
          <a:prstGeom prst="rect">
            <a:avLst/>
          </a:prstGeom>
        </p:spPr>
      </p:pic>
      <p:sp>
        <p:nvSpPr>
          <p:cNvPr id="6" name="Rectangle 5"/>
          <p:cNvSpPr/>
          <p:nvPr/>
        </p:nvSpPr>
        <p:spPr>
          <a:xfrm>
            <a:off x="164614" y="2238103"/>
            <a:ext cx="8038860" cy="1892826"/>
          </a:xfrm>
          <a:prstGeom prst="rect">
            <a:avLst/>
          </a:prstGeom>
        </p:spPr>
        <p:txBody>
          <a:bodyPr wrap="square">
            <a:spAutoFit/>
          </a:bodyPr>
          <a:lstStyle/>
          <a:p>
            <a:pPr algn="just">
              <a:lnSpc>
                <a:spcPct val="150000"/>
              </a:lnSpc>
            </a:pPr>
            <a:endParaRPr lang="en-US" dirty="0" smtClean="0">
              <a:latin typeface="Arial" panose="020B0604020202020204" pitchFamily="34" charset="0"/>
              <a:cs typeface="Arial" panose="020B0604020202020204" pitchFamily="34" charset="0"/>
            </a:endParaRPr>
          </a:p>
          <a:p>
            <a:pPr marL="342900" indent="-342900" algn="just">
              <a:lnSpc>
                <a:spcPct val="150000"/>
              </a:lnSpc>
              <a:buClr>
                <a:srgbClr val="33CC33"/>
              </a:buClr>
              <a:buFont typeface="Wingdings" panose="05000000000000000000" pitchFamily="2" charset="2"/>
              <a:buChar char="q"/>
            </a:pPr>
            <a:r>
              <a:rPr lang="en-US" sz="2000" dirty="0" smtClean="0">
                <a:latin typeface="Arial" panose="020B0604020202020204" pitchFamily="34" charset="0"/>
                <a:cs typeface="Arial" panose="020B0604020202020204" pitchFamily="34" charset="0"/>
              </a:rPr>
              <a:t> We </a:t>
            </a:r>
            <a:r>
              <a:rPr lang="en-US" sz="2000" dirty="0">
                <a:latin typeface="Arial" panose="020B0604020202020204" pitchFamily="34" charset="0"/>
                <a:cs typeface="Arial" panose="020B0604020202020204" pitchFamily="34" charset="0"/>
              </a:rPr>
              <a:t>solved this problem by developing machine learning programs using different algorithms to distinguish fake and true news based on content acquired.</a:t>
            </a:r>
          </a:p>
        </p:txBody>
      </p:sp>
    </p:spTree>
    <p:extLst>
      <p:ext uri="{BB962C8B-B14F-4D97-AF65-F5344CB8AC3E}">
        <p14:creationId xmlns:p14="http://schemas.microsoft.com/office/powerpoint/2010/main" val="19397873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7128" y="322089"/>
            <a:ext cx="6155283" cy="844859"/>
          </a:xfrm>
        </p:spPr>
        <p:txBody>
          <a:bodyPr/>
          <a:lstStyle/>
          <a:p>
            <a:r>
              <a:rPr lang="en-US"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First Thing </a:t>
            </a:r>
            <a:r>
              <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W</a:t>
            </a:r>
            <a:r>
              <a:rPr lang="en-US"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e </a:t>
            </a:r>
            <a:r>
              <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a:t>
            </a:r>
            <a:r>
              <a:rPr lang="en-US"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ried</a:t>
            </a: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024" y="3795030"/>
            <a:ext cx="5360627" cy="2196467"/>
          </a:xfrm>
          <a:prstGeom prst="rect">
            <a:avLst/>
          </a:prstGeom>
        </p:spPr>
      </p:pic>
      <p:sp>
        <p:nvSpPr>
          <p:cNvPr id="7" name="Rectangle 6"/>
          <p:cNvSpPr/>
          <p:nvPr/>
        </p:nvSpPr>
        <p:spPr>
          <a:xfrm>
            <a:off x="391884" y="1099600"/>
            <a:ext cx="11643361" cy="1589602"/>
          </a:xfrm>
          <a:prstGeom prst="rect">
            <a:avLst/>
          </a:prstGeom>
        </p:spPr>
        <p:txBody>
          <a:bodyPr wrap="square">
            <a:spAutoFit/>
          </a:bodyPr>
          <a:lstStyle/>
          <a:p>
            <a:pPr marL="285750" indent="-285750" algn="just">
              <a:lnSpc>
                <a:spcPct val="17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 The </a:t>
            </a:r>
            <a:r>
              <a:rPr lang="en-US" sz="2000" dirty="0">
                <a:latin typeface="Arial" panose="020B0604020202020204" pitchFamily="34" charset="0"/>
                <a:cs typeface="Arial" panose="020B0604020202020204" pitchFamily="34" charset="0"/>
              </a:rPr>
              <a:t>dataset we used is taken from Kaggle. The data set has two CSV files containing true and fake news. Each CSV have Title, text, subject and date attributes. There are 21417 true news data and 23481 fake news data given in the true and fake CSV files respectively. </a:t>
            </a:r>
          </a:p>
        </p:txBody>
      </p:sp>
      <p:sp>
        <p:nvSpPr>
          <p:cNvPr id="9" name="Rectangle 8"/>
          <p:cNvSpPr/>
          <p:nvPr/>
        </p:nvSpPr>
        <p:spPr>
          <a:xfrm>
            <a:off x="253549" y="3082274"/>
            <a:ext cx="5621220" cy="400110"/>
          </a:xfrm>
          <a:prstGeom prst="rect">
            <a:avLst/>
          </a:prstGeom>
        </p:spPr>
        <p:txBody>
          <a:bodyPr wrap="square">
            <a:spAutoFit/>
          </a:bodyPr>
          <a:lstStyle/>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First, we will import all the required libraries</a:t>
            </a:r>
            <a:r>
              <a:rPr lang="en-US" sz="2000" dirty="0" smtClean="0"/>
              <a:t>.</a:t>
            </a:r>
          </a:p>
        </p:txBody>
      </p:sp>
      <p:sp>
        <p:nvSpPr>
          <p:cNvPr id="10" name="Rectangle 9"/>
          <p:cNvSpPr/>
          <p:nvPr/>
        </p:nvSpPr>
        <p:spPr>
          <a:xfrm>
            <a:off x="6317988" y="2928386"/>
            <a:ext cx="5800072" cy="707886"/>
          </a:xfrm>
          <a:prstGeom prst="rect">
            <a:avLst/>
          </a:prstGeom>
        </p:spPr>
        <p:txBody>
          <a:bodyPr wrap="square">
            <a:spAutoFit/>
          </a:bodyPr>
          <a:lstStyle/>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After importing the libraries, </a:t>
            </a:r>
            <a:r>
              <a:rPr lang="en-US" sz="2000" dirty="0" smtClean="0">
                <a:latin typeface="Arial" panose="020B0604020202020204" pitchFamily="34" charset="0"/>
                <a:cs typeface="Arial" panose="020B0604020202020204" pitchFamily="34" charset="0"/>
              </a:rPr>
              <a:t>we read </a:t>
            </a:r>
            <a:r>
              <a:rPr lang="en-US" sz="2000" dirty="0">
                <a:latin typeface="Arial" panose="020B0604020202020204" pitchFamily="34" charset="0"/>
                <a:cs typeface="Arial" panose="020B0604020202020204" pitchFamily="34" charset="0"/>
              </a:rPr>
              <a:t>the CSV files in the program.</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481" y="3875456"/>
            <a:ext cx="5146764" cy="2116041"/>
          </a:xfrm>
          <a:prstGeom prst="rect">
            <a:avLst/>
          </a:prstGeom>
        </p:spPr>
      </p:pic>
      <p:sp>
        <p:nvSpPr>
          <p:cNvPr id="12" name="Right Arrow 11"/>
          <p:cNvSpPr/>
          <p:nvPr/>
        </p:nvSpPr>
        <p:spPr>
          <a:xfrm>
            <a:off x="5724360" y="465094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07089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6798" y="391758"/>
            <a:ext cx="6129158" cy="740356"/>
          </a:xfrm>
        </p:spPr>
        <p:txBody>
          <a:bodyPr/>
          <a:lstStyle/>
          <a:p>
            <a:r>
              <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First Thing We Tried</a:t>
            </a:r>
            <a:endParaRPr lang="en-US" dirty="0">
              <a:ln w="0"/>
              <a:solidFill>
                <a:schemeClr val="accent1"/>
              </a:solidFill>
              <a:effectLst>
                <a:outerShdw blurRad="38100" dist="25400" dir="5400000" algn="ctr" rotWithShape="0">
                  <a:srgbClr val="6E747A">
                    <a:alpha val="43000"/>
                  </a:srgbClr>
                </a:outerShdw>
              </a:effectLst>
            </a:endParaRPr>
          </a:p>
        </p:txBody>
      </p:sp>
      <p:sp>
        <p:nvSpPr>
          <p:cNvPr id="4" name="Rectangle 3"/>
          <p:cNvSpPr/>
          <p:nvPr/>
        </p:nvSpPr>
        <p:spPr>
          <a:xfrm>
            <a:off x="339046" y="1808057"/>
            <a:ext cx="5556069" cy="1323439"/>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Here, we will add fake and true labels as the target attribute with both the datasets and create our main data set that combines both fake and real datasets.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2337" y="1507009"/>
            <a:ext cx="6129407" cy="2397065"/>
          </a:xfrm>
          <a:prstGeom prst="rect">
            <a:avLst/>
          </a:prstGeom>
        </p:spPr>
      </p:pic>
      <p:sp>
        <p:nvSpPr>
          <p:cNvPr id="7" name="Rectangle 6"/>
          <p:cNvSpPr/>
          <p:nvPr/>
        </p:nvSpPr>
        <p:spPr>
          <a:xfrm>
            <a:off x="339046" y="4188971"/>
            <a:ext cx="11782698" cy="707886"/>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After specifying the main dataset, we will define the train and test data set by splitting the main data set. We have kept 20% of the data for testing the classifiers. This can be adjusted accordingly.</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661" y="5271752"/>
            <a:ext cx="11238371" cy="591141"/>
          </a:xfrm>
          <a:prstGeom prst="rect">
            <a:avLst/>
          </a:prstGeom>
        </p:spPr>
      </p:pic>
    </p:spTree>
    <p:extLst>
      <p:ext uri="{BB962C8B-B14F-4D97-AF65-F5344CB8AC3E}">
        <p14:creationId xmlns:p14="http://schemas.microsoft.com/office/powerpoint/2010/main" val="10723906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5942" y="1028300"/>
            <a:ext cx="4802779" cy="1323439"/>
          </a:xfrm>
          <a:prstGeom prst="rect">
            <a:avLst/>
          </a:prstGeom>
        </p:spPr>
        <p:txBody>
          <a:bodyPr wrap="square">
            <a:spAutoFit/>
          </a:bodyPr>
          <a:lstStyle/>
          <a:p>
            <a:pPr algn="just"/>
            <a:r>
              <a:rPr lang="en-US" sz="2000" dirty="0" smtClean="0">
                <a:latin typeface="Arial" panose="020B0604020202020204" pitchFamily="34" charset="0"/>
                <a:cs typeface="Arial" panose="020B0604020202020204" pitchFamily="34" charset="0"/>
              </a:rPr>
              <a:t>At first, we classified </a:t>
            </a:r>
            <a:r>
              <a:rPr lang="en-US" sz="2000" dirty="0">
                <a:latin typeface="Arial" panose="020B0604020202020204" pitchFamily="34" charset="0"/>
                <a:cs typeface="Arial" panose="020B0604020202020204" pitchFamily="34" charset="0"/>
              </a:rPr>
              <a:t>the news text using the Logistic Regression model and evaluate its performance using evaluation matrices.</a:t>
            </a:r>
          </a:p>
        </p:txBody>
      </p:sp>
      <p:sp>
        <p:nvSpPr>
          <p:cNvPr id="5" name="Content Placeholder 2"/>
          <p:cNvSpPr>
            <a:spLocks noGrp="1"/>
          </p:cNvSpPr>
          <p:nvPr>
            <p:ph type="title"/>
          </p:nvPr>
        </p:nvSpPr>
        <p:spPr>
          <a:xfrm>
            <a:off x="2265905" y="87445"/>
            <a:ext cx="6355580" cy="783899"/>
          </a:xfrm>
        </p:spPr>
        <p:txBody>
          <a:bodyPr/>
          <a:lstStyle/>
          <a:p>
            <a: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First Thing We Tried</a:t>
            </a:r>
            <a:endParaRPr lang="en-US" sz="3600" dirty="0">
              <a:ln w="0"/>
              <a:solidFill>
                <a:schemeClr val="accent1"/>
              </a:solidFill>
              <a:effectLst>
                <a:outerShdw blurRad="38100" dist="25400" dir="5400000" algn="ctr" rotWithShape="0">
                  <a:srgbClr val="6E747A">
                    <a:alpha val="43000"/>
                  </a:srgbClr>
                </a:outerShdw>
              </a:effectLst>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6284" y="928363"/>
            <a:ext cx="7010401" cy="2010991"/>
          </a:xfrm>
          <a:prstGeom prst="rect">
            <a:avLst/>
          </a:prstGeom>
        </p:spPr>
      </p:pic>
      <p:pic>
        <p:nvPicPr>
          <p:cNvPr id="8"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003176" y="3698087"/>
            <a:ext cx="4045132" cy="2661732"/>
          </a:xfrm>
        </p:spPr>
      </p:pic>
      <p:sp>
        <p:nvSpPr>
          <p:cNvPr id="9" name="Title 1"/>
          <p:cNvSpPr txBox="1">
            <a:spLocks/>
          </p:cNvSpPr>
          <p:nvPr/>
        </p:nvSpPr>
        <p:spPr>
          <a:xfrm>
            <a:off x="1813059" y="3045848"/>
            <a:ext cx="5049295" cy="722939"/>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Results We Got</a:t>
            </a:r>
            <a:endPar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10" name="Rectangle 9"/>
          <p:cNvSpPr/>
          <p:nvPr/>
        </p:nvSpPr>
        <p:spPr>
          <a:xfrm>
            <a:off x="195941" y="3698087"/>
            <a:ext cx="7746275" cy="2215991"/>
          </a:xfrm>
          <a:prstGeom prst="rect">
            <a:avLst/>
          </a:prstGeom>
        </p:spPr>
        <p:txBody>
          <a:bodyPr wrap="square">
            <a:spAutoFit/>
          </a:bodyPr>
          <a:lstStyle/>
          <a:p>
            <a:pPr marL="285750" indent="-2857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We got 98.73% accuracy for Logistic Regression Classifier.</a:t>
            </a:r>
          </a:p>
          <a:p>
            <a:pPr marL="285750" indent="-285750">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From Confusion Matrix of Logistic Regression Classifier we got: True Positive = 4617,False Positive = 49,False Negative = 65, True Negative = 4249</a:t>
            </a:r>
          </a:p>
          <a:p>
            <a:pPr marL="285750" indent="-285750" algn="ctr">
              <a:buFont typeface="Wingdings" panose="05000000000000000000" pitchFamily="2" charset="2"/>
              <a:buChar char="ü"/>
            </a:pPr>
            <a:endParaRPr lang="en-US" sz="2000" dirty="0" smtClean="0">
              <a:latin typeface="Arial" panose="020B0604020202020204" pitchFamily="34" charset="0"/>
              <a:cs typeface="Arial" panose="020B0604020202020204" pitchFamily="34" charset="0"/>
            </a:endParaRPr>
          </a:p>
          <a:p>
            <a:endParaRPr lang="en-US" dirty="0"/>
          </a:p>
        </p:txBody>
      </p:sp>
      <p:sp>
        <p:nvSpPr>
          <p:cNvPr id="11" name="Rectangle 10"/>
          <p:cNvSpPr/>
          <p:nvPr/>
        </p:nvSpPr>
        <p:spPr>
          <a:xfrm>
            <a:off x="200298" y="5436489"/>
            <a:ext cx="9596846" cy="923330"/>
          </a:xfrm>
          <a:prstGeom prst="rect">
            <a:avLst/>
          </a:prstGeom>
        </p:spPr>
        <p:txBody>
          <a:bodyPr wrap="square">
            <a:spAutoFit/>
          </a:bodyPr>
          <a:lstStyle/>
          <a:p>
            <a:pPr marL="342900"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For fake news we got, precision = 0.99, </a:t>
            </a:r>
            <a:r>
              <a:rPr lang="en-US" dirty="0" smtClean="0">
                <a:latin typeface="Arial" panose="020B0604020202020204" pitchFamily="34" charset="0"/>
                <a:cs typeface="Arial" panose="020B0604020202020204" pitchFamily="34" charset="0"/>
              </a:rPr>
              <a:t>recall=0.99, f1-score = 0.99</a:t>
            </a:r>
          </a:p>
          <a:p>
            <a:pPr marL="342900"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For </a:t>
            </a:r>
            <a:r>
              <a:rPr lang="en-US" dirty="0" smtClean="0">
                <a:latin typeface="Arial" panose="020B0604020202020204" pitchFamily="34" charset="0"/>
                <a:cs typeface="Arial" panose="020B0604020202020204" pitchFamily="34" charset="0"/>
              </a:rPr>
              <a:t>true </a:t>
            </a:r>
            <a:r>
              <a:rPr lang="en-US" dirty="0">
                <a:latin typeface="Arial" panose="020B0604020202020204" pitchFamily="34" charset="0"/>
                <a:cs typeface="Arial" panose="020B0604020202020204" pitchFamily="34" charset="0"/>
              </a:rPr>
              <a:t>news we got, precision = </a:t>
            </a:r>
            <a:r>
              <a:rPr lang="en-US" dirty="0" smtClean="0">
                <a:latin typeface="Arial" panose="020B0604020202020204" pitchFamily="34" charset="0"/>
                <a:cs typeface="Arial" panose="020B0604020202020204" pitchFamily="34" charset="0"/>
              </a:rPr>
              <a:t>0.98, </a:t>
            </a:r>
            <a:r>
              <a:rPr lang="en-US" dirty="0">
                <a:latin typeface="Arial" panose="020B0604020202020204" pitchFamily="34" charset="0"/>
                <a:cs typeface="Arial" panose="020B0604020202020204" pitchFamily="34" charset="0"/>
              </a:rPr>
              <a:t>recall=0.99, f1-score = 0.99</a:t>
            </a:r>
          </a:p>
          <a:p>
            <a:pPr marL="342900" indent="-34290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0979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021" y="356923"/>
            <a:ext cx="8245340" cy="714231"/>
          </a:xfrm>
        </p:spPr>
        <p:txBody>
          <a:bodyPr/>
          <a:lstStyle/>
          <a:p>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Motivation To </a:t>
            </a:r>
            <a: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U</a:t>
            </a:r>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se </a:t>
            </a:r>
            <a: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O</a:t>
            </a:r>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ther </a:t>
            </a:r>
            <a: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a:t>
            </a:r>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ethods</a:t>
            </a:r>
            <a:endPar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4" name="Rectangle 3"/>
          <p:cNvSpPr/>
          <p:nvPr/>
        </p:nvSpPr>
        <p:spPr>
          <a:xfrm>
            <a:off x="610439" y="1155954"/>
            <a:ext cx="10772504" cy="958660"/>
          </a:xfrm>
          <a:prstGeom prst="rect">
            <a:avLst/>
          </a:prstGeom>
        </p:spPr>
        <p:txBody>
          <a:bodyPr wrap="square">
            <a:spAutoFit/>
          </a:bodyPr>
          <a:lstStyle/>
          <a:p>
            <a:pPr>
              <a:lnSpc>
                <a:spcPct val="150000"/>
              </a:lnSpc>
            </a:pPr>
            <a:r>
              <a:rPr lang="en-US" sz="2000" dirty="0">
                <a:latin typeface="Arial" panose="020B0604020202020204" pitchFamily="34" charset="0"/>
                <a:cs typeface="Arial" panose="020B0604020202020204" pitchFamily="34" charset="0"/>
              </a:rPr>
              <a:t>The primary motivation to use other methods was to figure out the performance of different algorithms and compare the outcomes of all methods. </a:t>
            </a:r>
          </a:p>
        </p:txBody>
      </p:sp>
      <p:sp>
        <p:nvSpPr>
          <p:cNvPr id="5" name="Title 1"/>
          <p:cNvSpPr txBox="1">
            <a:spLocks/>
          </p:cNvSpPr>
          <p:nvPr/>
        </p:nvSpPr>
        <p:spPr>
          <a:xfrm>
            <a:off x="1166948" y="2416500"/>
            <a:ext cx="9048206" cy="714231"/>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Improvement We Got From Other Methods</a:t>
            </a:r>
            <a:endPar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6" name="Rectangle 5"/>
          <p:cNvSpPr/>
          <p:nvPr/>
        </p:nvSpPr>
        <p:spPr>
          <a:xfrm>
            <a:off x="235132" y="3109451"/>
            <a:ext cx="11591108" cy="707886"/>
          </a:xfrm>
          <a:prstGeom prst="rect">
            <a:avLst/>
          </a:prstGeom>
        </p:spPr>
        <p:txBody>
          <a:bodyPr wrap="square">
            <a:spAutoFit/>
          </a:bodyPr>
          <a:lstStyle/>
          <a:p>
            <a:pPr algn="just"/>
            <a:r>
              <a:rPr lang="en-US" sz="2000" dirty="0">
                <a:latin typeface="Arial" panose="020B0604020202020204" pitchFamily="34" charset="0"/>
                <a:cs typeface="Arial" panose="020B0604020202020204" pitchFamily="34" charset="0"/>
              </a:rPr>
              <a:t>After performing the classification using the logistic regression model, </a:t>
            </a:r>
            <a:r>
              <a:rPr lang="en-US" sz="2000" dirty="0" smtClean="0">
                <a:latin typeface="Arial" panose="020B0604020202020204" pitchFamily="34" charset="0"/>
                <a:cs typeface="Arial" panose="020B0604020202020204" pitchFamily="34" charset="0"/>
              </a:rPr>
              <a:t>we classified the </a:t>
            </a:r>
            <a:r>
              <a:rPr lang="en-US" sz="2000" dirty="0">
                <a:latin typeface="Arial" panose="020B0604020202020204" pitchFamily="34" charset="0"/>
                <a:cs typeface="Arial" panose="020B0604020202020204" pitchFamily="34" charset="0"/>
              </a:rPr>
              <a:t>news text using the Support Vector Classifier model and </a:t>
            </a:r>
            <a:r>
              <a:rPr lang="en-US" sz="2000" dirty="0" smtClean="0">
                <a:latin typeface="Arial" panose="020B0604020202020204" pitchFamily="34" charset="0"/>
                <a:cs typeface="Arial" panose="020B0604020202020204" pitchFamily="34" charset="0"/>
              </a:rPr>
              <a:t>evaluated </a:t>
            </a:r>
            <a:r>
              <a:rPr lang="en-US" sz="2000" dirty="0">
                <a:latin typeface="Arial" panose="020B0604020202020204" pitchFamily="34" charset="0"/>
                <a:cs typeface="Arial" panose="020B0604020202020204" pitchFamily="34" charset="0"/>
              </a:rPr>
              <a:t>its performance using evaluation matrices.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770" y="4025675"/>
            <a:ext cx="8192643" cy="2244496"/>
          </a:xfrm>
          <a:prstGeom prst="rect">
            <a:avLst/>
          </a:prstGeom>
        </p:spPr>
      </p:pic>
    </p:spTree>
    <p:extLst>
      <p:ext uri="{BB962C8B-B14F-4D97-AF65-F5344CB8AC3E}">
        <p14:creationId xmlns:p14="http://schemas.microsoft.com/office/powerpoint/2010/main" val="30299860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859" y="331579"/>
            <a:ext cx="9404723" cy="679396"/>
          </a:xfrm>
        </p:spPr>
        <p:txBody>
          <a:bodyPr/>
          <a:lstStyle/>
          <a:p>
            <a: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Improvement We Got From Other Methods</a:t>
            </a:r>
            <a:b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br>
            <a:endParaRPr lang="en-US" sz="3600" dirty="0"/>
          </a:p>
        </p:txBody>
      </p:sp>
      <p:sp>
        <p:nvSpPr>
          <p:cNvPr id="4" name="Title 1"/>
          <p:cNvSpPr txBox="1">
            <a:spLocks/>
          </p:cNvSpPr>
          <p:nvPr/>
        </p:nvSpPr>
        <p:spPr>
          <a:xfrm>
            <a:off x="195941" y="1123861"/>
            <a:ext cx="3714208" cy="393549"/>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u="sng"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Results We Got For SVM:</a:t>
            </a:r>
            <a:endParaRPr lang="en-US" sz="2000" u="sng"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5" name="Rectangle 4"/>
          <p:cNvSpPr/>
          <p:nvPr/>
        </p:nvSpPr>
        <p:spPr>
          <a:xfrm>
            <a:off x="195941" y="1543795"/>
            <a:ext cx="7206344" cy="2215991"/>
          </a:xfrm>
          <a:prstGeom prst="rect">
            <a:avLst/>
          </a:prstGeom>
        </p:spPr>
        <p:txBody>
          <a:bodyPr wrap="square">
            <a:spAutoFit/>
          </a:bodyPr>
          <a:lstStyle/>
          <a:p>
            <a:pPr marL="285750" indent="-285750" algn="just">
              <a:buFont typeface="Arial" panose="020B0604020202020204" pitchFamily="34" charset="0"/>
              <a:buChar char="•"/>
            </a:pPr>
            <a:r>
              <a:rPr lang="en-US" sz="2000" dirty="0" smtClean="0">
                <a:latin typeface="Arial" panose="020B0604020202020204" pitchFamily="34" charset="0"/>
                <a:cs typeface="Arial" panose="020B0604020202020204" pitchFamily="34" charset="0"/>
              </a:rPr>
              <a:t>We got 99.39% accuracy for Support Vector Machine Classifier.</a:t>
            </a:r>
          </a:p>
          <a:p>
            <a:pPr marL="285750" indent="-285750" algn="just">
              <a:buFont typeface="Arial" panose="020B0604020202020204" pitchFamily="34" charset="0"/>
              <a:buChar char="•"/>
            </a:pPr>
            <a:r>
              <a:rPr lang="en-US" sz="2000" dirty="0" smtClean="0">
                <a:latin typeface="Arial" panose="020B0604020202020204" pitchFamily="34" charset="0"/>
                <a:cs typeface="Arial" panose="020B0604020202020204" pitchFamily="34" charset="0"/>
              </a:rPr>
              <a:t>From Confusion Matrix of </a:t>
            </a:r>
            <a:r>
              <a:rPr lang="en-US" sz="2000" dirty="0">
                <a:latin typeface="Arial" panose="020B0604020202020204" pitchFamily="34" charset="0"/>
                <a:cs typeface="Arial" panose="020B0604020202020204" pitchFamily="34" charset="0"/>
              </a:rPr>
              <a:t>Support Vector Machine Classifier</a:t>
            </a:r>
            <a:r>
              <a:rPr lang="en-US" sz="2000" dirty="0" smtClean="0">
                <a:latin typeface="Arial" panose="020B0604020202020204" pitchFamily="34" charset="0"/>
                <a:cs typeface="Arial" panose="020B0604020202020204" pitchFamily="34" charset="0"/>
              </a:rPr>
              <a:t> we got: True Positive = 4644, False Positive = 17, False Negative = 38, True Negative = 4281.</a:t>
            </a:r>
          </a:p>
          <a:p>
            <a:pPr marL="285750" indent="-285750" algn="ctr">
              <a:buFont typeface="Wingdings" panose="05000000000000000000" pitchFamily="2" charset="2"/>
              <a:buChar char="ü"/>
            </a:pPr>
            <a:endParaRPr lang="en-US" sz="2000" dirty="0" smtClean="0">
              <a:latin typeface="Arial" panose="020B0604020202020204" pitchFamily="34" charset="0"/>
              <a:cs typeface="Arial" panose="020B0604020202020204" pitchFamily="34" charset="0"/>
            </a:endParaRPr>
          </a:p>
          <a:p>
            <a:endParaRPr lang="en-US" dirty="0"/>
          </a:p>
        </p:txBody>
      </p:sp>
      <p:sp>
        <p:nvSpPr>
          <p:cNvPr id="6" name="Rectangle 5"/>
          <p:cNvSpPr/>
          <p:nvPr/>
        </p:nvSpPr>
        <p:spPr>
          <a:xfrm>
            <a:off x="0" y="3404587"/>
            <a:ext cx="8303625" cy="1015663"/>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For fake news we got, precision = </a:t>
            </a:r>
            <a:r>
              <a:rPr lang="en-US" sz="2000" dirty="0" smtClean="0">
                <a:latin typeface="Arial" panose="020B0604020202020204" pitchFamily="34" charset="0"/>
                <a:cs typeface="Arial" panose="020B0604020202020204" pitchFamily="34" charset="0"/>
              </a:rPr>
              <a:t>1.00, recall=0.99, f1-score = 0.99</a:t>
            </a:r>
          </a:p>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For </a:t>
            </a:r>
            <a:r>
              <a:rPr lang="en-US" sz="2000" dirty="0" smtClean="0">
                <a:latin typeface="Arial" panose="020B0604020202020204" pitchFamily="34" charset="0"/>
                <a:cs typeface="Arial" panose="020B0604020202020204" pitchFamily="34" charset="0"/>
              </a:rPr>
              <a:t>true </a:t>
            </a:r>
            <a:r>
              <a:rPr lang="en-US" sz="2000" dirty="0">
                <a:latin typeface="Arial" panose="020B0604020202020204" pitchFamily="34" charset="0"/>
                <a:cs typeface="Arial" panose="020B0604020202020204" pitchFamily="34" charset="0"/>
              </a:rPr>
              <a:t>news we got, precision = </a:t>
            </a:r>
            <a:r>
              <a:rPr lang="en-US" sz="2000" dirty="0" smtClean="0">
                <a:latin typeface="Arial" panose="020B0604020202020204" pitchFamily="34" charset="0"/>
                <a:cs typeface="Arial" panose="020B0604020202020204" pitchFamily="34" charset="0"/>
              </a:rPr>
              <a:t>0.99, recall=1.00, </a:t>
            </a:r>
            <a:r>
              <a:rPr lang="en-US" sz="2000" dirty="0">
                <a:latin typeface="Arial" panose="020B0604020202020204" pitchFamily="34" charset="0"/>
                <a:cs typeface="Arial" panose="020B0604020202020204" pitchFamily="34" charset="0"/>
              </a:rPr>
              <a:t>f1-score = 0.99</a:t>
            </a:r>
          </a:p>
          <a:p>
            <a:pPr marL="342900"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7349" y="1227972"/>
            <a:ext cx="3855066" cy="2847639"/>
          </a:xfrm>
          <a:prstGeom prst="rect">
            <a:avLst/>
          </a:prstGeom>
        </p:spPr>
      </p:pic>
      <p:sp>
        <p:nvSpPr>
          <p:cNvPr id="8" name="Rectangle 7"/>
          <p:cNvSpPr/>
          <p:nvPr/>
        </p:nvSpPr>
        <p:spPr>
          <a:xfrm>
            <a:off x="362493" y="4600664"/>
            <a:ext cx="3990704" cy="1631216"/>
          </a:xfrm>
          <a:prstGeom prst="rect">
            <a:avLst/>
          </a:prstGeom>
        </p:spPr>
        <p:txBody>
          <a:bodyPr wrap="square">
            <a:spAutoFit/>
          </a:bodyPr>
          <a:lstStyle/>
          <a:p>
            <a:pPr marL="342900" indent="-342900">
              <a:buFont typeface="Wingdings" panose="05000000000000000000" pitchFamily="2" charset="2"/>
              <a:buChar char="q"/>
            </a:pPr>
            <a:r>
              <a:rPr lang="en-US" sz="2000" dirty="0">
                <a:latin typeface="Arial" panose="020B0604020202020204" pitchFamily="34" charset="0"/>
                <a:cs typeface="Arial" panose="020B0604020202020204" pitchFamily="34" charset="0"/>
              </a:rPr>
              <a:t>Finally, we </a:t>
            </a:r>
            <a:r>
              <a:rPr lang="en-US" sz="2000" dirty="0" smtClean="0">
                <a:latin typeface="Arial" panose="020B0604020202020204" pitchFamily="34" charset="0"/>
                <a:cs typeface="Arial" panose="020B0604020202020204" pitchFamily="34" charset="0"/>
              </a:rPr>
              <a:t>classified </a:t>
            </a:r>
            <a:r>
              <a:rPr lang="en-US" sz="2000" dirty="0">
                <a:latin typeface="Arial" panose="020B0604020202020204" pitchFamily="34" charset="0"/>
                <a:cs typeface="Arial" panose="020B0604020202020204" pitchFamily="34" charset="0"/>
              </a:rPr>
              <a:t>the news text using the Naive Bayes Classifier model and </a:t>
            </a:r>
            <a:r>
              <a:rPr lang="en-US" sz="2000" dirty="0" smtClean="0">
                <a:latin typeface="Arial" panose="020B0604020202020204" pitchFamily="34" charset="0"/>
                <a:cs typeface="Arial" panose="020B0604020202020204" pitchFamily="34" charset="0"/>
              </a:rPr>
              <a:t>evaluated </a:t>
            </a:r>
            <a:r>
              <a:rPr lang="en-US" sz="2000" dirty="0">
                <a:latin typeface="Arial" panose="020B0604020202020204" pitchFamily="34" charset="0"/>
                <a:cs typeface="Arial" panose="020B0604020202020204" pitchFamily="34" charset="0"/>
              </a:rPr>
              <a:t>its performance using evaluation matrices.</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8423" y="4375479"/>
            <a:ext cx="7233991" cy="2251743"/>
          </a:xfrm>
          <a:prstGeom prst="rect">
            <a:avLst/>
          </a:prstGeom>
        </p:spPr>
      </p:pic>
    </p:spTree>
    <p:extLst>
      <p:ext uri="{BB962C8B-B14F-4D97-AF65-F5344CB8AC3E}">
        <p14:creationId xmlns:p14="http://schemas.microsoft.com/office/powerpoint/2010/main" val="10333595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295963"/>
            <a:ext cx="9404723" cy="740356"/>
          </a:xfrm>
        </p:spPr>
        <p:txBody>
          <a:bodyPr/>
          <a:lstStyle/>
          <a:p>
            <a:r>
              <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Improvement We Got From Other Methods</a:t>
            </a:r>
            <a:r>
              <a:rPr lang="en-US" sz="4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
            </a:r>
            <a:br>
              <a:rPr lang="en-US" sz="4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br>
            <a:endParaRPr lang="en-US" dirty="0"/>
          </a:p>
        </p:txBody>
      </p:sp>
      <p:sp>
        <p:nvSpPr>
          <p:cNvPr id="4" name="Rectangle 3"/>
          <p:cNvSpPr/>
          <p:nvPr/>
        </p:nvSpPr>
        <p:spPr>
          <a:xfrm>
            <a:off x="331621" y="1100991"/>
            <a:ext cx="5169044" cy="369332"/>
          </a:xfrm>
          <a:prstGeom prst="rect">
            <a:avLst/>
          </a:prstGeom>
        </p:spPr>
        <p:txBody>
          <a:bodyPr wrap="none">
            <a:spAutoFit/>
          </a:bodyPr>
          <a:lstStyle/>
          <a:p>
            <a:r>
              <a:rPr lang="en-US" u="sng"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Results We Got For Naive Bayes </a:t>
            </a:r>
            <a:r>
              <a:rPr lang="en-US" u="sng"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Classifier:</a:t>
            </a:r>
            <a:endParaRPr lang="en-US" u="sng"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5" name="Rectangle 4"/>
          <p:cNvSpPr/>
          <p:nvPr/>
        </p:nvSpPr>
        <p:spPr>
          <a:xfrm>
            <a:off x="331621" y="1668191"/>
            <a:ext cx="7462550" cy="2062103"/>
          </a:xfrm>
          <a:prstGeom prst="rect">
            <a:avLst/>
          </a:prstGeom>
        </p:spPr>
        <p:txBody>
          <a:bodyPr wrap="square">
            <a:spAutoFit/>
          </a:bodyPr>
          <a:lstStyle/>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We got </a:t>
            </a:r>
            <a:r>
              <a:rPr lang="en-US" dirty="0" smtClean="0">
                <a:latin typeface="Arial" panose="020B0604020202020204" pitchFamily="34" charset="0"/>
                <a:cs typeface="Arial" panose="020B0604020202020204" pitchFamily="34" charset="0"/>
              </a:rPr>
              <a:t>94.08% </a:t>
            </a:r>
            <a:r>
              <a:rPr lang="en-US" dirty="0">
                <a:latin typeface="Arial" panose="020B0604020202020204" pitchFamily="34" charset="0"/>
                <a:cs typeface="Arial" panose="020B0604020202020204" pitchFamily="34" charset="0"/>
              </a:rPr>
              <a:t>accuracy for Naive Bayes Classifier</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From Confusion Matrix of Naive Bayes Classifier</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we got: True Positive = </a:t>
            </a:r>
            <a:r>
              <a:rPr lang="en-US" dirty="0" smtClean="0">
                <a:latin typeface="Arial" panose="020B0604020202020204" pitchFamily="34" charset="0"/>
                <a:cs typeface="Arial" panose="020B0604020202020204" pitchFamily="34" charset="0"/>
              </a:rPr>
              <a:t>4450, </a:t>
            </a:r>
            <a:r>
              <a:rPr lang="en-US" dirty="0">
                <a:latin typeface="Arial" panose="020B0604020202020204" pitchFamily="34" charset="0"/>
                <a:cs typeface="Arial" panose="020B0604020202020204" pitchFamily="34" charset="0"/>
              </a:rPr>
              <a:t>False Positive = </a:t>
            </a:r>
            <a:r>
              <a:rPr lang="en-US" dirty="0" smtClean="0">
                <a:latin typeface="Arial" panose="020B0604020202020204" pitchFamily="34" charset="0"/>
                <a:cs typeface="Arial" panose="020B0604020202020204" pitchFamily="34" charset="0"/>
              </a:rPr>
              <a:t>300, </a:t>
            </a:r>
            <a:r>
              <a:rPr lang="en-US" dirty="0">
                <a:latin typeface="Arial" panose="020B0604020202020204" pitchFamily="34" charset="0"/>
                <a:cs typeface="Arial" panose="020B0604020202020204" pitchFamily="34" charset="0"/>
              </a:rPr>
              <a:t>False Negative = </a:t>
            </a:r>
            <a:r>
              <a:rPr lang="en-US" dirty="0" smtClean="0">
                <a:latin typeface="Arial" panose="020B0604020202020204" pitchFamily="34" charset="0"/>
                <a:cs typeface="Arial" panose="020B0604020202020204" pitchFamily="34" charset="0"/>
              </a:rPr>
              <a:t>232, </a:t>
            </a:r>
            <a:r>
              <a:rPr lang="en-US" dirty="0">
                <a:latin typeface="Arial" panose="020B0604020202020204" pitchFamily="34" charset="0"/>
                <a:cs typeface="Arial" panose="020B0604020202020204" pitchFamily="34" charset="0"/>
              </a:rPr>
              <a:t>True Negative = </a:t>
            </a:r>
            <a:r>
              <a:rPr lang="en-US" dirty="0" smtClean="0">
                <a:latin typeface="Arial" panose="020B0604020202020204" pitchFamily="34" charset="0"/>
                <a:cs typeface="Arial" panose="020B0604020202020204" pitchFamily="34" charset="0"/>
              </a:rPr>
              <a:t>3998.</a:t>
            </a:r>
            <a:endParaRPr lang="en-US" dirty="0">
              <a:latin typeface="Arial" panose="020B0604020202020204" pitchFamily="34" charset="0"/>
              <a:cs typeface="Arial" panose="020B0604020202020204" pitchFamily="34" charset="0"/>
            </a:endParaRPr>
          </a:p>
          <a:p>
            <a:pPr marL="285750" indent="-285750" algn="ctr">
              <a:buFont typeface="Wingdings" panose="05000000000000000000" pitchFamily="2" charset="2"/>
              <a:buChar char="ü"/>
            </a:pPr>
            <a:endParaRPr lang="en-US" dirty="0">
              <a:latin typeface="Arial" panose="020B0604020202020204" pitchFamily="34" charset="0"/>
              <a:cs typeface="Arial" panose="020B0604020202020204" pitchFamily="34" charset="0"/>
            </a:endParaRPr>
          </a:p>
          <a:p>
            <a:endParaRPr lang="en-US" dirty="0"/>
          </a:p>
        </p:txBody>
      </p:sp>
      <p:sp>
        <p:nvSpPr>
          <p:cNvPr id="6" name="Rectangle 5"/>
          <p:cNvSpPr/>
          <p:nvPr/>
        </p:nvSpPr>
        <p:spPr>
          <a:xfrm>
            <a:off x="200993" y="3296290"/>
            <a:ext cx="7462550" cy="923330"/>
          </a:xfrm>
          <a:prstGeom prst="rect">
            <a:avLst/>
          </a:prstGeom>
        </p:spPr>
        <p:txBody>
          <a:bodyPr wrap="square">
            <a:spAutoFit/>
          </a:bodyPr>
          <a:lstStyle/>
          <a:p>
            <a:pPr marL="342900"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For fake news we got, precision = </a:t>
            </a:r>
            <a:r>
              <a:rPr lang="en-US" dirty="0" smtClean="0">
                <a:latin typeface="Arial" panose="020B0604020202020204" pitchFamily="34" charset="0"/>
                <a:cs typeface="Arial" panose="020B0604020202020204" pitchFamily="34" charset="0"/>
              </a:rPr>
              <a:t>0.94, recall=0.95, </a:t>
            </a:r>
            <a:r>
              <a:rPr lang="en-US" dirty="0">
                <a:latin typeface="Arial" panose="020B0604020202020204" pitchFamily="34" charset="0"/>
                <a:cs typeface="Arial" panose="020B0604020202020204" pitchFamily="34" charset="0"/>
              </a:rPr>
              <a:t>f1-score = </a:t>
            </a:r>
            <a:r>
              <a:rPr lang="en-US" dirty="0" smtClean="0">
                <a:latin typeface="Arial" panose="020B0604020202020204" pitchFamily="34" charset="0"/>
                <a:cs typeface="Arial" panose="020B0604020202020204" pitchFamily="34" charset="0"/>
              </a:rPr>
              <a:t>0.94</a:t>
            </a:r>
            <a:endParaRPr lang="en-US"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dirty="0">
                <a:latin typeface="Arial" panose="020B0604020202020204" pitchFamily="34" charset="0"/>
                <a:cs typeface="Arial" panose="020B0604020202020204" pitchFamily="34" charset="0"/>
              </a:rPr>
              <a:t>For true news we got, precision = </a:t>
            </a:r>
            <a:r>
              <a:rPr lang="en-US" dirty="0" smtClean="0">
                <a:latin typeface="Arial" panose="020B0604020202020204" pitchFamily="34" charset="0"/>
                <a:cs typeface="Arial" panose="020B0604020202020204" pitchFamily="34" charset="0"/>
              </a:rPr>
              <a:t>0.95, recall=0.93, </a:t>
            </a:r>
            <a:r>
              <a:rPr lang="en-US" dirty="0">
                <a:latin typeface="Arial" panose="020B0604020202020204" pitchFamily="34" charset="0"/>
                <a:cs typeface="Arial" panose="020B0604020202020204" pitchFamily="34" charset="0"/>
              </a:rPr>
              <a:t>f1-score = </a:t>
            </a:r>
            <a:r>
              <a:rPr lang="en-US" dirty="0" smtClean="0">
                <a:latin typeface="Arial" panose="020B0604020202020204" pitchFamily="34" charset="0"/>
                <a:cs typeface="Arial" panose="020B0604020202020204" pitchFamily="34" charset="0"/>
              </a:rPr>
              <a:t>0.94</a:t>
            </a:r>
            <a:endParaRPr lang="en-US"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4171" y="1036318"/>
            <a:ext cx="4114312" cy="3074127"/>
          </a:xfrm>
          <a:prstGeom prst="rect">
            <a:avLst/>
          </a:prstGeom>
        </p:spPr>
      </p:pic>
      <p:sp>
        <p:nvSpPr>
          <p:cNvPr id="8" name="Rectangle 7"/>
          <p:cNvSpPr/>
          <p:nvPr/>
        </p:nvSpPr>
        <p:spPr>
          <a:xfrm>
            <a:off x="331621" y="4485582"/>
            <a:ext cx="11458547" cy="1323439"/>
          </a:xfrm>
          <a:prstGeom prst="rect">
            <a:avLst/>
          </a:prstGeom>
        </p:spPr>
        <p:txBody>
          <a:bodyPr wrap="square">
            <a:spAutoFit/>
          </a:bodyPr>
          <a:lstStyle/>
          <a:p>
            <a:pPr algn="just"/>
            <a:r>
              <a:rPr lang="en-US" sz="2000" dirty="0" smtClean="0">
                <a:latin typeface="Arial" panose="020B0604020202020204" pitchFamily="34" charset="0"/>
                <a:cs typeface="Arial" panose="020B0604020202020204" pitchFamily="34" charset="0"/>
              </a:rPr>
              <a:t>Finally, as </a:t>
            </a:r>
            <a:r>
              <a:rPr lang="en-US" sz="2000" dirty="0">
                <a:latin typeface="Arial" panose="020B0604020202020204" pitchFamily="34" charset="0"/>
                <a:cs typeface="Arial" panose="020B0604020202020204" pitchFamily="34" charset="0"/>
              </a:rPr>
              <a:t>we can analyze from the accuracy scores, confusion matrices and the classification reports of all the three models, we can conclude that that the Support Vector Classifier has </a:t>
            </a:r>
            <a:r>
              <a:rPr lang="en-US" sz="2000" dirty="0" smtClean="0">
                <a:latin typeface="Arial" panose="020B0604020202020204" pitchFamily="34" charset="0"/>
                <a:cs typeface="Arial" panose="020B0604020202020204" pitchFamily="34" charset="0"/>
              </a:rPr>
              <a:t>better result than the </a:t>
            </a:r>
            <a:r>
              <a:rPr lang="en-US" sz="2000" dirty="0">
                <a:latin typeface="Arial" panose="020B0604020202020204" pitchFamily="34" charset="0"/>
                <a:cs typeface="Arial" panose="020B0604020202020204" pitchFamily="34" charset="0"/>
              </a:rPr>
              <a:t>Logistic Regression model and </a:t>
            </a:r>
            <a:r>
              <a:rPr lang="en-US" sz="2000" dirty="0" smtClean="0">
                <a:latin typeface="Arial" panose="020B0604020202020204" pitchFamily="34" charset="0"/>
                <a:cs typeface="Arial" panose="020B0604020202020204" pitchFamily="34" charset="0"/>
              </a:rPr>
              <a:t>the Naive Bayes </a:t>
            </a:r>
            <a:r>
              <a:rPr lang="en-US" sz="2000" dirty="0">
                <a:latin typeface="Arial" panose="020B0604020202020204" pitchFamily="34" charset="0"/>
                <a:cs typeface="Arial" panose="020B0604020202020204" pitchFamily="34" charset="0"/>
              </a:rPr>
              <a:t>model in this task. The Support Vector classifier has given about 100% accuracy in classifying the fake news texts. </a:t>
            </a:r>
            <a:r>
              <a:rPr lang="en-US" sz="2000" dirty="0" smtClean="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62373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8421" y="697988"/>
            <a:ext cx="5188632" cy="670688"/>
          </a:xfrm>
        </p:spPr>
        <p:txBody>
          <a:bodyPr/>
          <a:lstStyle/>
          <a:p>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Model Selection Method</a:t>
            </a:r>
            <a:endPar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4" name="Rectangle 3"/>
          <p:cNvSpPr/>
          <p:nvPr/>
        </p:nvSpPr>
        <p:spPr>
          <a:xfrm>
            <a:off x="470261" y="1633602"/>
            <a:ext cx="10929259" cy="400110"/>
          </a:xfrm>
          <a:prstGeom prst="rect">
            <a:avLst/>
          </a:prstGeom>
        </p:spPr>
        <p:txBody>
          <a:bodyPr wrap="square">
            <a:spAutoFit/>
          </a:bodyPr>
          <a:lstStyle/>
          <a:p>
            <a:pPr algn="just"/>
            <a:r>
              <a:rPr lang="en-US" sz="2000" dirty="0" smtClean="0">
                <a:latin typeface="Arial" panose="020B0604020202020204" pitchFamily="34" charset="0"/>
                <a:cs typeface="Arial" panose="020B0604020202020204" pitchFamily="34" charset="0"/>
              </a:rPr>
              <a:t>Among three </a:t>
            </a:r>
            <a:r>
              <a:rPr lang="en-US" sz="2000" dirty="0">
                <a:latin typeface="Arial" panose="020B0604020202020204" pitchFamily="34" charset="0"/>
                <a:cs typeface="Arial" panose="020B0604020202020204" pitchFamily="34" charset="0"/>
              </a:rPr>
              <a:t>common resampling model selection methods we used Random train_test_split</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
        <p:nvSpPr>
          <p:cNvPr id="5" name="Rectangle 4"/>
          <p:cNvSpPr/>
          <p:nvPr/>
        </p:nvSpPr>
        <p:spPr>
          <a:xfrm>
            <a:off x="1117258" y="2563564"/>
            <a:ext cx="9333004" cy="584775"/>
          </a:xfrm>
          <a:prstGeom prst="rect">
            <a:avLst/>
          </a:prstGeom>
        </p:spPr>
        <p:txBody>
          <a:bodyPr wrap="none">
            <a:spAutoFit/>
          </a:bodyPr>
          <a:lstStyle/>
          <a:p>
            <a:r>
              <a:rPr lang="en-US" sz="32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Improvement By Using Model Selection Technique</a:t>
            </a:r>
            <a:endParaRPr lang="en-US" sz="3200" dirty="0"/>
          </a:p>
        </p:txBody>
      </p:sp>
      <p:sp>
        <p:nvSpPr>
          <p:cNvPr id="6" name="Rectangle 1"/>
          <p:cNvSpPr>
            <a:spLocks noChangeArrowheads="1"/>
          </p:cNvSpPr>
          <p:nvPr/>
        </p:nvSpPr>
        <p:spPr bwMode="auto">
          <a:xfrm>
            <a:off x="244270" y="3481498"/>
            <a:ext cx="1171259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train_test_split is a function in Sklearn model selection for splitting data arrays into two subsets:</a:t>
            </a:r>
            <a:r>
              <a:rPr kumimoji="0" lang="en-US" sz="200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for training data and for testing data. With this function, we do</a:t>
            </a:r>
            <a:r>
              <a:rPr kumimoji="0" lang="en-US" sz="2000" i="0" u="none" strike="noStrike" cap="none" normalizeH="0" dirty="0" smtClean="0">
                <a:ln>
                  <a:noFill/>
                </a:ln>
                <a:solidFill>
                  <a:schemeClr val="tx1"/>
                </a:solidFill>
                <a:effectLst/>
                <a:latin typeface="Arial" panose="020B0604020202020204" pitchFamily="34" charset="0"/>
                <a:cs typeface="Arial" panose="020B0604020202020204" pitchFamily="34" charset="0"/>
              </a:rPr>
              <a:t> not</a:t>
            </a: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need to divide the dataset manually.</a:t>
            </a:r>
            <a:r>
              <a:rPr kumimoji="0" lang="en-US" sz="200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By default, Sklearn train_test_split will make random partitions for the two subsets.</a:t>
            </a:r>
            <a:r>
              <a:rPr kumimoji="0" lang="en-US" sz="200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However, we can also specify a random state for the operation.</a:t>
            </a:r>
          </a:p>
        </p:txBody>
      </p:sp>
      <p:sp>
        <p:nvSpPr>
          <p:cNvPr id="7" name="Rectangle 2"/>
          <p:cNvSpPr>
            <a:spLocks noChangeArrowheads="1"/>
          </p:cNvSpPr>
          <p:nvPr/>
        </p:nvSpPr>
        <p:spPr bwMode="auto">
          <a:xfrm>
            <a:off x="244270" y="4897232"/>
            <a:ext cx="1180839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Using the same dataset for both training and testing leaves room for miscalculations,</a:t>
            </a:r>
            <a:r>
              <a:rPr kumimoji="0" lang="en-US" sz="200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thus increases the chances of inaccurate predictions.</a:t>
            </a:r>
            <a:r>
              <a:rPr kumimoji="0" lang="en-US" sz="200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kumimoji="0" lang="en-US" sz="20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The train_test_split function allows us to break a dataset with ease while pursuing an ideal model.</a:t>
            </a:r>
          </a:p>
        </p:txBody>
      </p:sp>
    </p:spTree>
    <p:extLst>
      <p:ext uri="{BB962C8B-B14F-4D97-AF65-F5344CB8AC3E}">
        <p14:creationId xmlns:p14="http://schemas.microsoft.com/office/powerpoint/2010/main" val="22153542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483" y="470135"/>
            <a:ext cx="7400609" cy="618436"/>
          </a:xfrm>
        </p:spPr>
        <p:txBody>
          <a:bodyPr/>
          <a:lstStyle/>
          <a:p>
            <a:r>
              <a:rPr lang="en-US" sz="36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Things We Learn From The Project</a:t>
            </a:r>
            <a:endParaRPr lang="en-US" sz="36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146855" y="1391066"/>
            <a:ext cx="10844848" cy="4195481"/>
          </a:xfrm>
        </p:spPr>
        <p:txBody>
          <a:bodyPr/>
          <a:lstStyle/>
          <a:p>
            <a:pPr lvl="0" algn="just"/>
            <a:r>
              <a:rPr lang="en-US" dirty="0">
                <a:latin typeface="Arial" panose="020B0604020202020204" pitchFamily="34" charset="0"/>
                <a:cs typeface="Arial" panose="020B0604020202020204" pitchFamily="34" charset="0"/>
              </a:rPr>
              <a:t>Distinguish between </a:t>
            </a:r>
            <a:r>
              <a:rPr lang="en-US" dirty="0" smtClean="0">
                <a:latin typeface="Arial" panose="020B0604020202020204" pitchFamily="34" charset="0"/>
                <a:cs typeface="Arial" panose="020B0604020202020204" pitchFamily="34" charset="0"/>
              </a:rPr>
              <a:t>click </a:t>
            </a:r>
            <a:r>
              <a:rPr lang="en-US" dirty="0" smtClean="0">
                <a:latin typeface="Arial" panose="020B0604020202020204" pitchFamily="34" charset="0"/>
                <a:cs typeface="Arial" panose="020B0604020202020204" pitchFamily="34" charset="0"/>
              </a:rPr>
              <a:t>bait, actual </a:t>
            </a:r>
            <a:r>
              <a:rPr lang="en-US" dirty="0">
                <a:latin typeface="Arial" panose="020B0604020202020204" pitchFamily="34" charset="0"/>
                <a:cs typeface="Arial" panose="020B0604020202020204" pitchFamily="34" charset="0"/>
              </a:rPr>
              <a:t>fake </a:t>
            </a:r>
            <a:r>
              <a:rPr lang="en-US" dirty="0" smtClean="0">
                <a:latin typeface="Arial" panose="020B0604020202020204" pitchFamily="34" charset="0"/>
                <a:cs typeface="Arial" panose="020B0604020202020204" pitchFamily="34" charset="0"/>
              </a:rPr>
              <a:t>news and real news.</a:t>
            </a:r>
            <a:endParaRPr lang="en-US" dirty="0">
              <a:latin typeface="Arial" panose="020B0604020202020204" pitchFamily="34" charset="0"/>
              <a:cs typeface="Arial" panose="020B0604020202020204" pitchFamily="34" charset="0"/>
            </a:endParaRPr>
          </a:p>
          <a:p>
            <a:pPr algn="just"/>
            <a:r>
              <a:rPr lang="en" dirty="0">
                <a:latin typeface="Arial" panose="020B0604020202020204" pitchFamily="34" charset="0"/>
                <a:cs typeface="Arial" panose="020B0604020202020204" pitchFamily="34" charset="0"/>
              </a:rPr>
              <a:t>Content based classification is just a part of the whole </a:t>
            </a:r>
            <a:r>
              <a:rPr lang="en" dirty="0" smtClean="0">
                <a:latin typeface="Arial" panose="020B0604020202020204" pitchFamily="34" charset="0"/>
                <a:cs typeface="Arial" panose="020B0604020202020204" pitchFamily="34" charset="0"/>
              </a:rPr>
              <a:t>picture.</a:t>
            </a:r>
          </a:p>
          <a:p>
            <a:pPr lvl="0" algn="just"/>
            <a:r>
              <a:rPr lang="en-US" dirty="0">
                <a:latin typeface="Arial" panose="020B0604020202020204" pitchFamily="34" charset="0"/>
                <a:cs typeface="Arial" panose="020B0604020202020204" pitchFamily="34" charset="0"/>
              </a:rPr>
              <a:t>The loss to value of information in a real scenario for news is very </a:t>
            </a:r>
            <a:r>
              <a:rPr lang="en-US" dirty="0" smtClean="0">
                <a:latin typeface="Arial" panose="020B0604020202020204" pitchFamily="34" charset="0"/>
                <a:cs typeface="Arial" panose="020B0604020202020204" pitchFamily="34" charset="0"/>
              </a:rPr>
              <a:t>high.</a:t>
            </a:r>
            <a:endParaRPr lang="en-US" dirty="0">
              <a:latin typeface="Arial" panose="020B0604020202020204" pitchFamily="34" charset="0"/>
              <a:cs typeface="Arial" panose="020B0604020202020204" pitchFamily="34" charset="0"/>
            </a:endParaRPr>
          </a:p>
          <a:p>
            <a:pPr algn="just"/>
            <a:r>
              <a:rPr lang="en" dirty="0">
                <a:latin typeface="Arial" panose="020B0604020202020204" pitchFamily="34" charset="0"/>
                <a:cs typeface="Arial" panose="020B0604020202020204" pitchFamily="34" charset="0"/>
              </a:rPr>
              <a:t>Lack of clean data </a:t>
            </a:r>
            <a:r>
              <a:rPr lang="en" dirty="0" smtClean="0">
                <a:latin typeface="Arial" panose="020B0604020202020204" pitchFamily="34" charset="0"/>
                <a:cs typeface="Arial" panose="020B0604020202020204" pitchFamily="34" charset="0"/>
              </a:rPr>
              <a:t>can slow </a:t>
            </a:r>
            <a:r>
              <a:rPr lang="en" dirty="0">
                <a:latin typeface="Arial" panose="020B0604020202020204" pitchFamily="34" charset="0"/>
                <a:cs typeface="Arial" panose="020B0604020202020204" pitchFamily="34" charset="0"/>
              </a:rPr>
              <a:t>down </a:t>
            </a:r>
            <a:r>
              <a:rPr lang="en" dirty="0" smtClean="0">
                <a:latin typeface="Arial" panose="020B0604020202020204" pitchFamily="34" charset="0"/>
                <a:cs typeface="Arial" panose="020B0604020202020204" pitchFamily="34" charset="0"/>
              </a:rPr>
              <a:t>our work progress</a:t>
            </a:r>
            <a:r>
              <a:rPr lang="en" dirty="0" smtClean="0">
                <a:latin typeface="Arial" panose="020B0604020202020204" pitchFamily="34" charset="0"/>
                <a:cs typeface="Arial" panose="020B0604020202020204" pitchFamily="34" charset="0"/>
              </a:rPr>
              <a:t>.</a:t>
            </a:r>
          </a:p>
          <a:p>
            <a:r>
              <a:rPr lang="en-US" dirty="0" smtClean="0">
                <a:latin typeface="Arial" panose="020B0604020202020204" pitchFamily="34" charset="0"/>
                <a:cs typeface="Arial" panose="020B0604020202020204" pitchFamily="34" charset="0"/>
              </a:rPr>
              <a:t>In Over fitting situation </a:t>
            </a:r>
            <a:r>
              <a:rPr lang="en-US" dirty="0">
                <a:latin typeface="Arial" panose="020B0604020202020204" pitchFamily="34" charset="0"/>
                <a:cs typeface="Arial" panose="020B0604020202020204" pitchFamily="34" charset="0"/>
              </a:rPr>
              <a:t>when a model shows almost perfect accuracy when handling training data. This situation happens when the model has a complex set of rules. When a model is </a:t>
            </a:r>
            <a:r>
              <a:rPr lang="en-US" dirty="0" smtClean="0">
                <a:latin typeface="Arial" panose="020B0604020202020204" pitchFamily="34" charset="0"/>
                <a:cs typeface="Arial" panose="020B0604020202020204" pitchFamily="34" charset="0"/>
              </a:rPr>
              <a:t>over fitting, </a:t>
            </a:r>
            <a:r>
              <a:rPr lang="en-US" dirty="0">
                <a:latin typeface="Arial" panose="020B0604020202020204" pitchFamily="34" charset="0"/>
                <a:cs typeface="Arial" panose="020B0604020202020204" pitchFamily="34" charset="0"/>
              </a:rPr>
              <a:t>it can be inaccurate when handling new data. </a:t>
            </a:r>
          </a:p>
          <a:p>
            <a:r>
              <a:rPr lang="en-US" dirty="0" smtClean="0">
                <a:latin typeface="Arial" panose="020B0604020202020204" pitchFamily="34" charset="0"/>
                <a:cs typeface="Arial" panose="020B0604020202020204" pitchFamily="34" charset="0"/>
              </a:rPr>
              <a:t>Under fitting </a:t>
            </a:r>
            <a:r>
              <a:rPr lang="en-US" dirty="0">
                <a:latin typeface="Arial" panose="020B0604020202020204" pitchFamily="34" charset="0"/>
                <a:cs typeface="Arial" panose="020B0604020202020204" pitchFamily="34" charset="0"/>
              </a:rPr>
              <a:t>is when a model doesn't fit the training data due to sets of rules that are too simple. You can't rely on an </a:t>
            </a:r>
            <a:r>
              <a:rPr lang="en-US" dirty="0" smtClean="0">
                <a:latin typeface="Arial" panose="020B0604020202020204" pitchFamily="34" charset="0"/>
                <a:cs typeface="Arial" panose="020B0604020202020204" pitchFamily="34" charset="0"/>
              </a:rPr>
              <a:t>under fitting </a:t>
            </a:r>
            <a:r>
              <a:rPr lang="en-US" dirty="0">
                <a:latin typeface="Arial" panose="020B0604020202020204" pitchFamily="34" charset="0"/>
                <a:cs typeface="Arial" panose="020B0604020202020204" pitchFamily="34" charset="0"/>
              </a:rPr>
              <a:t>model to make an accurate prediction. </a:t>
            </a:r>
          </a:p>
          <a:p>
            <a:pPr algn="just"/>
            <a:endParaRPr lang="en" dirty="0" smtClean="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4474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5940" y="208878"/>
            <a:ext cx="7174186" cy="627145"/>
          </a:xfrm>
        </p:spPr>
        <p:txBody>
          <a:bodyPr/>
          <a:lstStyle/>
          <a:p>
            <a:r>
              <a:rPr lang="en-US" sz="28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Sources We Used, To Do The Project</a:t>
            </a:r>
            <a:endParaRPr lang="en-US" sz="28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
        <p:nvSpPr>
          <p:cNvPr id="4" name="Rectangle 3"/>
          <p:cNvSpPr/>
          <p:nvPr/>
        </p:nvSpPr>
        <p:spPr>
          <a:xfrm>
            <a:off x="4184467" y="3557843"/>
            <a:ext cx="2387828" cy="584775"/>
          </a:xfrm>
          <a:prstGeom prst="rect">
            <a:avLst/>
          </a:prstGeom>
        </p:spPr>
        <p:txBody>
          <a:bodyPr wrap="square">
            <a:spAutoFit/>
          </a:bodyPr>
          <a:lstStyle/>
          <a:p>
            <a:r>
              <a:rPr lang="en-US" sz="320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Conclusion</a:t>
            </a:r>
            <a:endParaRPr lang="en-US" sz="3200" dirty="0"/>
          </a:p>
        </p:txBody>
      </p:sp>
      <p:sp>
        <p:nvSpPr>
          <p:cNvPr id="5" name="Rectangle 4"/>
          <p:cNvSpPr/>
          <p:nvPr/>
        </p:nvSpPr>
        <p:spPr>
          <a:xfrm>
            <a:off x="113211" y="836023"/>
            <a:ext cx="12000411" cy="3139321"/>
          </a:xfrm>
          <a:prstGeom prst="rect">
            <a:avLst/>
          </a:prstGeom>
        </p:spPr>
        <p:txBody>
          <a:bodyPr wrap="square">
            <a:spAutoFit/>
          </a:bodyPr>
          <a:lstStyle/>
          <a:p>
            <a:r>
              <a:rPr lang="en-US" dirty="0" smtClean="0"/>
              <a:t>[1] </a:t>
            </a:r>
            <a:r>
              <a:rPr lang="en-US" dirty="0" smtClean="0">
                <a:hlinkClick r:id="rId2"/>
              </a:rPr>
              <a:t>https</a:t>
            </a:r>
            <a:r>
              <a:rPr lang="en-US" dirty="0">
                <a:hlinkClick r:id="rId2"/>
              </a:rPr>
              <a:t>://</a:t>
            </a:r>
            <a:r>
              <a:rPr lang="en-US" dirty="0" smtClean="0">
                <a:hlinkClick r:id="rId2"/>
              </a:rPr>
              <a:t>www.educative.io/edpresso/what-is-pandas-in-python</a:t>
            </a:r>
            <a:endParaRPr lang="en-US" dirty="0" smtClean="0"/>
          </a:p>
          <a:p>
            <a:r>
              <a:rPr lang="en-US" dirty="0" smtClean="0"/>
              <a:t>[2] </a:t>
            </a:r>
            <a:r>
              <a:rPr lang="en-US" dirty="0">
                <a:hlinkClick r:id="rId3"/>
              </a:rPr>
              <a:t>https://</a:t>
            </a:r>
            <a:r>
              <a:rPr lang="en-US" dirty="0" smtClean="0">
                <a:hlinkClick r:id="rId3"/>
              </a:rPr>
              <a:t>scikit-learn.org/stable/modules/generated/sklearn.model_selection.train_test_split.html</a:t>
            </a:r>
            <a:endParaRPr lang="en-US" dirty="0" smtClean="0"/>
          </a:p>
          <a:p>
            <a:r>
              <a:rPr lang="en-US" dirty="0" smtClean="0"/>
              <a:t>[</a:t>
            </a:r>
            <a:r>
              <a:rPr lang="en-US" dirty="0"/>
              <a:t>3] </a:t>
            </a:r>
            <a:r>
              <a:rPr lang="en-US" dirty="0">
                <a:hlinkClick r:id="rId4"/>
              </a:rPr>
              <a:t>https://</a:t>
            </a:r>
            <a:r>
              <a:rPr lang="en-US" dirty="0" smtClean="0">
                <a:hlinkClick r:id="rId4"/>
              </a:rPr>
              <a:t>scikit-learn.org/stable/modules/generated/sklearn.pipeline.Pipeline.html</a:t>
            </a:r>
            <a:endParaRPr lang="en-US" dirty="0" smtClean="0"/>
          </a:p>
          <a:p>
            <a:r>
              <a:rPr lang="en-US" dirty="0" smtClean="0"/>
              <a:t>[</a:t>
            </a:r>
            <a:r>
              <a:rPr lang="en-US" dirty="0"/>
              <a:t>4] </a:t>
            </a:r>
            <a:r>
              <a:rPr lang="en-US" dirty="0">
                <a:hlinkClick r:id="rId5"/>
              </a:rPr>
              <a:t>https://</a:t>
            </a:r>
            <a:r>
              <a:rPr lang="en-US" dirty="0" smtClean="0">
                <a:hlinkClick r:id="rId5"/>
              </a:rPr>
              <a:t>scikit-learn.org/stable/modules/generated/sklearn.feature_extraction.text.CountVectorizer.html</a:t>
            </a:r>
            <a:endParaRPr lang="en-US" dirty="0" smtClean="0"/>
          </a:p>
          <a:p>
            <a:r>
              <a:rPr lang="en-US" dirty="0"/>
              <a:t>[5] </a:t>
            </a:r>
            <a:r>
              <a:rPr lang="en-US" dirty="0">
                <a:hlinkClick r:id="rId6"/>
              </a:rPr>
              <a:t>https://</a:t>
            </a:r>
            <a:r>
              <a:rPr lang="en-US" dirty="0" smtClean="0">
                <a:hlinkClick r:id="rId6"/>
              </a:rPr>
              <a:t>scikit-learn.org/stable/modules/generated/sklearn.feature_extraction.text.TfidfTransformer.html</a:t>
            </a:r>
            <a:endParaRPr lang="en-US" dirty="0" smtClean="0"/>
          </a:p>
          <a:p>
            <a:r>
              <a:rPr lang="en-US" dirty="0" smtClean="0"/>
              <a:t>[</a:t>
            </a:r>
            <a:r>
              <a:rPr lang="en-US" dirty="0"/>
              <a:t>6] </a:t>
            </a:r>
            <a:r>
              <a:rPr lang="en-US" dirty="0">
                <a:hlinkClick r:id="rId7"/>
              </a:rPr>
              <a:t>https://</a:t>
            </a:r>
            <a:r>
              <a:rPr lang="en-US" dirty="0" smtClean="0">
                <a:hlinkClick r:id="rId7"/>
              </a:rPr>
              <a:t>scikit-learn.org/stable/modules/generated/sklearn.metrics.accuracy_score.html</a:t>
            </a:r>
            <a:endParaRPr lang="en-US" dirty="0" smtClean="0"/>
          </a:p>
          <a:p>
            <a:r>
              <a:rPr lang="en-US" dirty="0" smtClean="0"/>
              <a:t>[</a:t>
            </a:r>
            <a:r>
              <a:rPr lang="en-US" dirty="0"/>
              <a:t>7] </a:t>
            </a:r>
            <a:r>
              <a:rPr lang="en-US" dirty="0">
                <a:hlinkClick r:id="rId8"/>
              </a:rPr>
              <a:t>https://</a:t>
            </a:r>
            <a:r>
              <a:rPr lang="en-US" dirty="0" smtClean="0">
                <a:hlinkClick r:id="rId8"/>
              </a:rPr>
              <a:t>scikit-learn.org/stable/modules/generated/sklearn.metrics.confusion_matrix.html</a:t>
            </a:r>
            <a:endParaRPr lang="en-US" dirty="0" smtClean="0"/>
          </a:p>
          <a:p>
            <a:r>
              <a:rPr lang="en-US" dirty="0" smtClean="0"/>
              <a:t>[</a:t>
            </a:r>
            <a:r>
              <a:rPr lang="en-US" dirty="0"/>
              <a:t>8] </a:t>
            </a:r>
            <a:r>
              <a:rPr lang="en-US" dirty="0">
                <a:hlinkClick r:id="rId9"/>
              </a:rPr>
              <a:t>https://</a:t>
            </a:r>
            <a:r>
              <a:rPr lang="en-US" dirty="0" smtClean="0">
                <a:hlinkClick r:id="rId9"/>
              </a:rPr>
              <a:t>www.kaggle.com/clmentbisaillon/fake-and-real-news-dataset</a:t>
            </a:r>
            <a:endParaRPr lang="en-US" dirty="0" smtClean="0"/>
          </a:p>
          <a:p>
            <a:r>
              <a:rPr lang="en-US" dirty="0" smtClean="0"/>
              <a:t>[</a:t>
            </a:r>
            <a:r>
              <a:rPr lang="en-US" dirty="0"/>
              <a:t>9] </a:t>
            </a:r>
            <a:r>
              <a:rPr lang="en-US" dirty="0">
                <a:hlinkClick r:id="rId10"/>
              </a:rPr>
              <a:t>https://machinelearningmastery.com/a-gentle-introduction-to-model-selection-for-machine-learning</a:t>
            </a:r>
            <a:r>
              <a:rPr lang="en-US" dirty="0" smtClean="0">
                <a:hlinkClick r:id="rId10"/>
              </a:rPr>
              <a:t>/</a:t>
            </a:r>
            <a:endParaRPr lang="en-US" dirty="0" smtClean="0"/>
          </a:p>
          <a:p>
            <a:endParaRPr lang="en-US" dirty="0" smtClean="0"/>
          </a:p>
          <a:p>
            <a:endParaRPr lang="en-US" dirty="0" smtClean="0"/>
          </a:p>
        </p:txBody>
      </p:sp>
      <p:sp>
        <p:nvSpPr>
          <p:cNvPr id="6" name="Rectangle 5"/>
          <p:cNvSpPr/>
          <p:nvPr/>
        </p:nvSpPr>
        <p:spPr>
          <a:xfrm>
            <a:off x="409302" y="4142618"/>
            <a:ext cx="11234056" cy="2400657"/>
          </a:xfrm>
          <a:prstGeom prst="rect">
            <a:avLst/>
          </a:prstGeom>
        </p:spPr>
        <p:txBody>
          <a:bodyPr wrap="square">
            <a:spAutoFit/>
          </a:bodyPr>
          <a:lstStyle/>
          <a:p>
            <a:pPr algn="just">
              <a:lnSpc>
                <a:spcPct val="150000"/>
              </a:lnSpc>
            </a:pPr>
            <a:r>
              <a:rPr lang="en-US" sz="2000" dirty="0">
                <a:latin typeface="Arial" panose="020B0604020202020204" pitchFamily="34" charset="0"/>
                <a:cs typeface="Arial" panose="020B0604020202020204" pitchFamily="34" charset="0"/>
              </a:rPr>
              <a:t>There are more than millions of news contents published on the internet every day. If we include the social media then this figure will be increased in multiples. Nowadays, the internet is becoming the biggest source of spreading fake news. A mechanism is required to identify fake news published on the internet so that the readers can be warned accordingly. </a:t>
            </a:r>
            <a:r>
              <a:rPr lang="en-US" sz="2000" dirty="0" smtClean="0">
                <a:latin typeface="Arial" panose="020B0604020202020204" pitchFamily="34" charset="0"/>
                <a:cs typeface="Arial" panose="020B0604020202020204" pitchFamily="34" charset="0"/>
              </a:rPr>
              <a:t> By Machine Learning we can detect fake news and can solve this problem.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10660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289" y="4502203"/>
            <a:ext cx="9404723" cy="1400530"/>
          </a:xfrm>
        </p:spPr>
        <p:txBody>
          <a:bodyPr/>
          <a:lstStyle/>
          <a:p>
            <a:r>
              <a:rPr lang="en-US" dirty="0" smtClean="0"/>
              <a:t>               </a:t>
            </a:r>
            <a:r>
              <a:rPr lang="en-US" sz="6600" dirty="0" smtClean="0"/>
              <a:t>Thank You</a:t>
            </a:r>
            <a:endParaRPr lang="en-US" sz="6600" dirty="0"/>
          </a:p>
        </p:txBody>
      </p:sp>
      <p:graphicFrame>
        <p:nvGraphicFramePr>
          <p:cNvPr id="4" name="Table 3"/>
          <p:cNvGraphicFramePr>
            <a:graphicFrameLocks noGrp="1"/>
          </p:cNvGraphicFramePr>
          <p:nvPr>
            <p:extLst>
              <p:ext uri="{D42A27DB-BD31-4B8C-83A1-F6EECF244321}">
                <p14:modId xmlns:p14="http://schemas.microsoft.com/office/powerpoint/2010/main" val="2352953518"/>
              </p:ext>
            </p:extLst>
          </p:nvPr>
        </p:nvGraphicFramePr>
        <p:xfrm>
          <a:off x="1323702" y="562913"/>
          <a:ext cx="8183154" cy="2091967"/>
        </p:xfrm>
        <a:graphic>
          <a:graphicData uri="http://schemas.openxmlformats.org/drawingml/2006/table">
            <a:tbl>
              <a:tblPr firstRow="1" bandRow="1">
                <a:tableStyleId>{5C22544A-7EE6-4342-B048-85BDC9FD1C3A}</a:tableStyleId>
              </a:tblPr>
              <a:tblGrid>
                <a:gridCol w="4091577"/>
                <a:gridCol w="4091577"/>
              </a:tblGrid>
              <a:tr h="292149">
                <a:tc>
                  <a:txBody>
                    <a:bodyPr/>
                    <a:lstStyle/>
                    <a:p>
                      <a:r>
                        <a:rPr lang="en-US" dirty="0" smtClean="0"/>
                        <a:t>Models</a:t>
                      </a:r>
                      <a:endParaRPr lang="en-US" dirty="0"/>
                    </a:p>
                  </a:txBody>
                  <a:tcPr/>
                </a:tc>
                <a:tc>
                  <a:txBody>
                    <a:bodyPr/>
                    <a:lstStyle/>
                    <a:p>
                      <a:r>
                        <a:rPr lang="en-US" dirty="0" smtClean="0"/>
                        <a:t>Accuracy</a:t>
                      </a:r>
                      <a:endParaRPr lang="en-US" dirty="0"/>
                    </a:p>
                  </a:txBody>
                  <a:tcPr/>
                </a:tc>
              </a:tr>
              <a:tr h="292149">
                <a:tc>
                  <a:txBody>
                    <a:bodyPr/>
                    <a:lstStyle/>
                    <a:p>
                      <a:endParaRPr lang="en-US" dirty="0" smtClean="0"/>
                    </a:p>
                    <a:p>
                      <a:pPr marL="0" indent="0">
                        <a:buFont typeface="Arial" panose="020B0604020202020204" pitchFamily="34" charset="0"/>
                        <a:buNone/>
                      </a:pPr>
                      <a:r>
                        <a:rPr lang="en-US" sz="1800" dirty="0" smtClean="0">
                          <a:latin typeface="Arial" panose="020B0604020202020204" pitchFamily="34" charset="0"/>
                          <a:cs typeface="Arial" panose="020B0604020202020204" pitchFamily="34" charset="0"/>
                        </a:rPr>
                        <a:t>Logistic Regression Classifier</a:t>
                      </a:r>
                    </a:p>
                  </a:txBody>
                  <a:tcPr/>
                </a:tc>
                <a:tc>
                  <a:txBody>
                    <a:bodyPr/>
                    <a:lstStyle/>
                    <a:p>
                      <a:r>
                        <a:rPr lang="en-US" sz="1800" dirty="0" smtClean="0">
                          <a:latin typeface="Arial" panose="020B0604020202020204" pitchFamily="34" charset="0"/>
                          <a:cs typeface="Arial" panose="020B0604020202020204" pitchFamily="34" charset="0"/>
                        </a:rPr>
                        <a:t>98.73%</a:t>
                      </a:r>
                      <a:endParaRPr lang="en-US" dirty="0"/>
                    </a:p>
                  </a:txBody>
                  <a:tcPr/>
                </a:tc>
              </a:tr>
              <a:tr h="292149">
                <a:tc>
                  <a:txBody>
                    <a:bodyPr/>
                    <a:lstStyle/>
                    <a:p>
                      <a:r>
                        <a:rPr lang="en-US" sz="1800" dirty="0" smtClean="0">
                          <a:latin typeface="Arial" panose="020B0604020202020204" pitchFamily="34" charset="0"/>
                          <a:cs typeface="Arial" panose="020B0604020202020204" pitchFamily="34" charset="0"/>
                        </a:rPr>
                        <a:t>Support Vector Machine Classifier</a:t>
                      </a:r>
                    </a:p>
                  </a:txBody>
                  <a:tcPr/>
                </a:tc>
                <a:tc>
                  <a:txBody>
                    <a:bodyPr/>
                    <a:lstStyle/>
                    <a:p>
                      <a:r>
                        <a:rPr lang="en-US" sz="1800" dirty="0" smtClean="0">
                          <a:latin typeface="Arial" panose="020B0604020202020204" pitchFamily="34" charset="0"/>
                          <a:cs typeface="Arial" panose="020B0604020202020204" pitchFamily="34" charset="0"/>
                        </a:rPr>
                        <a:t>99.39%</a:t>
                      </a:r>
                      <a:endParaRPr lang="en-US" dirty="0"/>
                    </a:p>
                  </a:txBody>
                  <a:tcPr/>
                </a:tc>
              </a:tr>
              <a:tr h="720367">
                <a:tc>
                  <a:txBody>
                    <a:bodyPr/>
                    <a:lstStyle/>
                    <a:p>
                      <a:pPr marL="0" indent="0" algn="just">
                        <a:buFont typeface="Arial" panose="020B0604020202020204" pitchFamily="34" charset="0"/>
                        <a:buNone/>
                      </a:pPr>
                      <a:r>
                        <a:rPr lang="en-US" dirty="0" smtClean="0">
                          <a:latin typeface="Arial" panose="020B0604020202020204" pitchFamily="34" charset="0"/>
                          <a:cs typeface="Arial" panose="020B0604020202020204" pitchFamily="34" charset="0"/>
                        </a:rPr>
                        <a:t>Naive Bayes Classifier</a:t>
                      </a:r>
                    </a:p>
                  </a:txBody>
                  <a:tcPr/>
                </a:tc>
                <a:tc>
                  <a:txBody>
                    <a:bodyPr/>
                    <a:lstStyle/>
                    <a:p>
                      <a:r>
                        <a:rPr lang="en-US" dirty="0" smtClean="0">
                          <a:latin typeface="Arial" panose="020B0604020202020204" pitchFamily="34" charset="0"/>
                          <a:cs typeface="Arial" panose="020B0604020202020204" pitchFamily="34" charset="0"/>
                        </a:rPr>
                        <a:t>94.08%</a:t>
                      </a:r>
                      <a:endParaRPr lang="en-US" dirty="0"/>
                    </a:p>
                  </a:txBody>
                  <a:tcPr/>
                </a:tc>
              </a:tr>
            </a:tbl>
          </a:graphicData>
        </a:graphic>
      </p:graphicFrame>
    </p:spTree>
    <p:extLst>
      <p:ext uri="{BB962C8B-B14F-4D97-AF65-F5344CB8AC3E}">
        <p14:creationId xmlns:p14="http://schemas.microsoft.com/office/powerpoint/2010/main" val="32179256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853</TotalTime>
  <Words>1086</Words>
  <Application>Microsoft Office PowerPoint</Application>
  <PresentationFormat>Widescreen</PresentationFormat>
  <Paragraphs>85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Wingdings</vt:lpstr>
      <vt:lpstr>Wingdings 3</vt:lpstr>
      <vt:lpstr>Ion</vt:lpstr>
      <vt:lpstr>                     North South University Department of Electrical &amp; Computer Engineering                        Project Presentation                             Summer 2020 </vt:lpstr>
      <vt:lpstr>      The Problem Statement </vt:lpstr>
      <vt:lpstr>The First Thing We Tried</vt:lpstr>
      <vt:lpstr>The First Thing We Tried</vt:lpstr>
      <vt:lpstr>The First Thing We Tried</vt:lpstr>
      <vt:lpstr>Motivation To Use Other Methods</vt:lpstr>
      <vt:lpstr>Improvement We Got From Other Methods </vt:lpstr>
      <vt:lpstr>Improvement We Got From Other Methods </vt:lpstr>
      <vt:lpstr>Model Selection Method</vt:lpstr>
      <vt:lpstr>Things We Learn From The Project</vt:lpstr>
      <vt:lpstr>The Sources We Used, To Do The Project</vt:lpstr>
      <vt:lpstr>               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South University Department of Electrical &amp; Computer Engineering Project Proposal Summer 2020 </dc:title>
  <dc:creator>Windows User</dc:creator>
  <cp:lastModifiedBy>Windows User</cp:lastModifiedBy>
  <cp:revision>142</cp:revision>
  <dcterms:created xsi:type="dcterms:W3CDTF">2020-07-11T21:06:07Z</dcterms:created>
  <dcterms:modified xsi:type="dcterms:W3CDTF">2020-09-21T15:44:50Z</dcterms:modified>
</cp:coreProperties>
</file>